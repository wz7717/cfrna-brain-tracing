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5294BDE2-F122-4424-A5F9-CCAF7E5A83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742"/>
          </a:solidFill>
          <a:ln w="0">
            <a:solidFill>
              <a:srgbClr val="0F2742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5978CE-CE91-4624-9112-01831B801E9E}"/>
              </a:ext>
            </a:extLst>
          </p:cNvPr>
          <p:cNvSpPr>
            <a:spLocks noGrp="1"/>
          </p:cNvSpPr>
          <p:nvPr/>
        </p:nvSpPr>
        <p:spPr>
          <a:xfrm>
            <a:off x="0" y="5095875"/>
            <a:ext cx="12192000" cy="17621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FA0A3E-3A1A-47B8-835F-4174DAAE65BE}"/>
              </a:ext>
            </a:extLst>
          </p:cNvPr>
          <p:cNvSpPr>
            <a:spLocks noGrp="1"/>
          </p:cNvSpPr>
          <p:nvPr/>
        </p:nvSpPr>
        <p:spPr>
          <a:xfrm>
            <a:off x="666750" y="838200"/>
            <a:ext cx="10096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Bo2023 </a:t>
            </a:r>
            <a:r>
              <a:rPr sz="31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脑区溯源正式最优路线</a:t>
            </a:r>
            <a:endParaRPr sz="31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C290A4-1EBC-4702-8EA7-A0B3E657D09C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933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BF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FE7FF"/>
                </a:solidFill>
                <a:latin typeface="Microsoft YaHei"/>
                <a:ea typeface="Microsoft YaHei"/>
                <a:cs typeface="Microsoft YaHei"/>
              </a:rPr>
              <a:t>判定方法、优化方法与严格 LOSO 验证结果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881542-8DD4-4FA2-83DB-B4CB9CAB49AE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990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当前正式环境：Network 主结论 + Exact Region 二级候选 + low_resolution 注释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8623DA-B74D-4213-8522-40CE84A210C9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24765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D33312-61D3-4547-A483-812122CBA8B0}"/>
              </a:ext>
            </a:extLst>
          </p:cNvPr>
          <p:cNvSpPr>
            <a:spLocks noGrp="1"/>
          </p:cNvSpPr>
          <p:nvPr/>
        </p:nvSpPr>
        <p:spPr>
          <a:xfrm>
            <a:off x="838200" y="4048125"/>
            <a:ext cx="21336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严格 LOSO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9E5C2D6-E662-4900-976A-69755234E7E5}"/>
              </a:ext>
            </a:extLst>
          </p:cNvPr>
          <p:cNvSpPr>
            <a:spLocks noGrp="1"/>
          </p:cNvSpPr>
          <p:nvPr/>
        </p:nvSpPr>
        <p:spPr>
          <a:xfrm>
            <a:off x="838200" y="4352925"/>
            <a:ext cx="2133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rPr>
              <a:t>814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18B50C-FC38-4794-9DE7-46CF32BA71F3}"/>
              </a:ext>
            </a:extLst>
          </p:cNvPr>
          <p:cNvSpPr>
            <a:spLocks noGrp="1"/>
          </p:cNvSpPr>
          <p:nvPr/>
        </p:nvSpPr>
        <p:spPr>
          <a:xfrm>
            <a:off x="838200" y="4895850"/>
            <a:ext cx="2133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可评估样本；5 个 singleton 排除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97FEEF-6FBA-493D-A243-65021D709A1D}"/>
              </a:ext>
            </a:extLst>
          </p:cNvPr>
          <p:cNvSpPr>
            <a:spLocks noGrp="1"/>
          </p:cNvSpPr>
          <p:nvPr/>
        </p:nvSpPr>
        <p:spPr>
          <a:xfrm>
            <a:off x="3476625" y="3905250"/>
            <a:ext cx="24765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F5DF92-FA62-497B-BA63-8477E1C3B795}"/>
              </a:ext>
            </a:extLst>
          </p:cNvPr>
          <p:cNvSpPr>
            <a:spLocks noGrp="1"/>
          </p:cNvSpPr>
          <p:nvPr/>
        </p:nvSpPr>
        <p:spPr>
          <a:xfrm>
            <a:off x="3648075" y="4048125"/>
            <a:ext cx="21336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Exact Region Top1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7AB391-6CC0-4B7E-B3B4-FBD2BAE7E918}"/>
              </a:ext>
            </a:extLst>
          </p:cNvPr>
          <p:cNvSpPr>
            <a:spLocks noGrp="1"/>
          </p:cNvSpPr>
          <p:nvPr/>
        </p:nvSpPr>
        <p:spPr>
          <a:xfrm>
            <a:off x="3648075" y="4352925"/>
            <a:ext cx="2133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D4ED8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D4ED8"/>
                </a:solidFill>
                <a:latin typeface="Aptos Display"/>
                <a:ea typeface="Aptos Display"/>
                <a:cs typeface="Aptos Display"/>
              </a:rPr>
              <a:t>22.2%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E11F43-6306-4C48-A4F4-A5FFE00188D9}"/>
              </a:ext>
            </a:extLst>
          </p:cNvPr>
          <p:cNvSpPr>
            <a:spLocks noGrp="1"/>
          </p:cNvSpPr>
          <p:nvPr/>
        </p:nvSpPr>
        <p:spPr>
          <a:xfrm>
            <a:off x="3648075" y="4895850"/>
            <a:ext cx="2133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正式 Region 精确首位命中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30BBF19-4FA6-4770-982A-8AC6B27172E6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765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DE3D80-BB65-44C2-9A60-A00CC088EF80}"/>
              </a:ext>
            </a:extLst>
          </p:cNvPr>
          <p:cNvSpPr>
            <a:spLocks noGrp="1"/>
          </p:cNvSpPr>
          <p:nvPr/>
        </p:nvSpPr>
        <p:spPr>
          <a:xfrm>
            <a:off x="6457950" y="4048125"/>
            <a:ext cx="21336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Exact Region Top3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9E484CC-5B5F-4A6C-A3B5-865C01A2E073}"/>
              </a:ext>
            </a:extLst>
          </p:cNvPr>
          <p:cNvSpPr>
            <a:spLocks noGrp="1"/>
          </p:cNvSpPr>
          <p:nvPr/>
        </p:nvSpPr>
        <p:spPr>
          <a:xfrm>
            <a:off x="6457950" y="4352925"/>
            <a:ext cx="2133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rPr>
              <a:t>44.5%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F22AD71-E886-493B-A763-DA127D3BAFD9}"/>
              </a:ext>
            </a:extLst>
          </p:cNvPr>
          <p:cNvSpPr>
            <a:spLocks noGrp="1"/>
          </p:cNvSpPr>
          <p:nvPr/>
        </p:nvSpPr>
        <p:spPr>
          <a:xfrm>
            <a:off x="6457950" y="4895850"/>
            <a:ext cx="2133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正式 Region 精确前三命中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2763D00-6AF5-4F04-B8CC-2DDF2D515E44}"/>
              </a:ext>
            </a:extLst>
          </p:cNvPr>
          <p:cNvSpPr>
            <a:spLocks noGrp="1"/>
          </p:cNvSpPr>
          <p:nvPr/>
        </p:nvSpPr>
        <p:spPr>
          <a:xfrm>
            <a:off x="9096375" y="3905250"/>
            <a:ext cx="24765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1B784AA-2840-49FC-9FBD-9E54D0A7B0FF}"/>
              </a:ext>
            </a:extLst>
          </p:cNvPr>
          <p:cNvSpPr>
            <a:spLocks noGrp="1"/>
          </p:cNvSpPr>
          <p:nvPr/>
        </p:nvSpPr>
        <p:spPr>
          <a:xfrm>
            <a:off x="9267825" y="4048125"/>
            <a:ext cx="21336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Group Top3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912856E-5521-4F9D-A8F2-49155A0B5210}"/>
              </a:ext>
            </a:extLst>
          </p:cNvPr>
          <p:cNvSpPr>
            <a:spLocks noGrp="1"/>
          </p:cNvSpPr>
          <p:nvPr/>
        </p:nvSpPr>
        <p:spPr>
          <a:xfrm>
            <a:off x="9267825" y="4352925"/>
            <a:ext cx="2133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58.4%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3CEDF9C-9545-436D-8422-696EECC3396B}"/>
              </a:ext>
            </a:extLst>
          </p:cNvPr>
          <p:cNvSpPr>
            <a:spLocks noGrp="1"/>
          </p:cNvSpPr>
          <p:nvPr/>
        </p:nvSpPr>
        <p:spPr>
          <a:xfrm>
            <a:off x="9267825" y="4895850"/>
            <a:ext cx="2133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same-Network max6 分辨率终点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32F5857-C040-44EA-A08E-2E65E1A82175}"/>
              </a:ext>
            </a:extLst>
          </p:cNvPr>
          <p:cNvSpPr>
            <a:spLocks noGrp="1"/>
          </p:cNvSpPr>
          <p:nvPr/>
        </p:nvSpPr>
        <p:spPr>
          <a:xfrm>
            <a:off x="685800" y="5886450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结论：已接入正式 Bo2023 VSD correlation 分支；Top5 与 cross-Network 合并未采纳。</a:t>
            </a:r>
          </a:p>
        </p:txBody>
      </p:sp>
    </p:spTree>
    <p:extLst>
      <p:ext uri="{BB962C8B-B14F-4D97-AF65-F5344CB8AC3E}">
        <p14:creationId xmlns:p14="http://schemas.microsoft.com/office/powerpoint/2010/main" val="470589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2B06E8C-7D49-4ED8-8BA3-5FCA8BE132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28650"/>
          </a:xfrm>
          <a:prstGeom prst="rect">
            <a:avLst/>
          </a:prstGeom>
          <a:solidFill>
            <a:srgbClr val="0F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29C6A7-C4BE-41B2-A636-D3B369ACA590}"/>
              </a:ext>
            </a:extLst>
          </p:cNvPr>
          <p:cNvSpPr>
            <a:spLocks noGrp="1"/>
          </p:cNvSpPr>
          <p:nvPr/>
        </p:nvSpPr>
        <p:spPr>
          <a:xfrm>
            <a:off x="419100" y="142875"/>
            <a:ext cx="885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正式路线：两级输出，不制造假精确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1E8635-CAE9-4172-A20F-33A056EF0B4E}"/>
              </a:ext>
            </a:extLst>
          </p:cNvPr>
          <p:cNvSpPr>
            <a:spLocks noGrp="1"/>
          </p:cNvSpPr>
          <p:nvPr/>
        </p:nvSpPr>
        <p:spPr>
          <a:xfrm>
            <a:off x="9429750" y="200025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FE7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E7FF"/>
                </a:solidFill>
                <a:latin typeface="Aptos"/>
                <a:ea typeface="Aptos"/>
                <a:cs typeface="Aptos"/>
              </a:rPr>
              <a:t>Bo2023 formal source tracing route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41DB2E-0B14-4F03-A1C7-1C32A4E2D57F}"/>
              </a:ext>
            </a:extLst>
          </p:cNvPr>
          <p:cNvSpPr>
            <a:spLocks noGrp="1"/>
          </p:cNvSpPr>
          <p:nvPr/>
        </p:nvSpPr>
        <p:spPr>
          <a:xfrm>
            <a:off x="419100" y="657225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Strict LOSO · Network first · Region second · Resolution-aware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C0BA35-9743-4163-8F28-4D25C5108AE0}"/>
              </a:ext>
            </a:extLst>
          </p:cNvPr>
          <p:cNvSpPr>
            <a:spLocks noGrp="1"/>
          </p:cNvSpPr>
          <p:nvPr/>
        </p:nvSpPr>
        <p:spPr>
          <a:xfrm>
            <a:off x="647700" y="1076325"/>
            <a:ext cx="95250" cy="95250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B88CBE-5E30-4C5E-B5AE-2F94CBB374FF}"/>
              </a:ext>
            </a:extLst>
          </p:cNvPr>
          <p:cNvSpPr>
            <a:spLocks noGrp="1"/>
          </p:cNvSpPr>
          <p:nvPr/>
        </p:nvSpPr>
        <p:spPr>
          <a:xfrm>
            <a:off x="857250" y="1000125"/>
            <a:ext cx="9620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Network 是主结论：先判断大尺度功能网络，稳定性更高。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0801E2-5B78-4AAD-B335-4F05A8544F70}"/>
              </a:ext>
            </a:extLst>
          </p:cNvPr>
          <p:cNvSpPr>
            <a:spLocks noGrp="1"/>
          </p:cNvSpPr>
          <p:nvPr/>
        </p:nvSpPr>
        <p:spPr>
          <a:xfrm>
            <a:off x="647700" y="1600200"/>
            <a:ext cx="95250" cy="95250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66AD2D-91CE-4F31-9EEB-FD8F57C598F2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9620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Exact Region 是二级候选：只在 Top3 Network beam 内做精细脑区排序。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31B0F2-FADB-4857-A2CB-8ECA114BAE5F}"/>
              </a:ext>
            </a:extLst>
          </p:cNvPr>
          <p:cNvSpPr>
            <a:spLocks noGrp="1"/>
          </p:cNvSpPr>
          <p:nvPr/>
        </p:nvSpPr>
        <p:spPr>
          <a:xfrm>
            <a:off x="647700" y="2124075"/>
            <a:ext cx="95250" cy="95250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B607D7-4B02-42E5-8ABC-F07EDFABBF22}"/>
              </a:ext>
            </a:extLst>
          </p:cNvPr>
          <p:cNvSpPr>
            <a:spLocks noGrp="1"/>
          </p:cNvSpPr>
          <p:nvPr/>
        </p:nvSpPr>
        <p:spPr>
          <a:xfrm>
            <a:off x="857250" y="2047875"/>
            <a:ext cx="9620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低分辨率脑区输出 low_resolution：提示这些 Region 在本图谱内难以稳定拆分。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359F4F-4DC6-4F41-9FA7-D1B17CE60F9B}"/>
              </a:ext>
            </a:extLst>
          </p:cNvPr>
          <p:cNvSpPr>
            <a:spLocks noGrp="1"/>
          </p:cNvSpPr>
          <p:nvPr/>
        </p:nvSpPr>
        <p:spPr>
          <a:xfrm>
            <a:off x="647700" y="2647950"/>
            <a:ext cx="95250" cy="95250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8EBD8DD-7086-4336-A9FD-A5725E064465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9620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正式路径已显式接入 Streamlit 的 Bo2023 VSD correlation 分支。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A1CD10-DD05-4218-A3EF-8EA14FDE4D5D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2238375" cy="1066800"/>
          </a:xfrm>
          <a:prstGeom prst="rect">
            <a:avLst/>
          </a:prstGeom>
          <a:solidFill>
            <a:srgbClr val="E6FAFD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8C28F54-4D95-4F31-9BE6-BE28B6B5279E}"/>
              </a:ext>
            </a:extLst>
          </p:cNvPr>
          <p:cNvSpPr>
            <a:spLocks noGrp="1"/>
          </p:cNvSpPr>
          <p:nvPr/>
        </p:nvSpPr>
        <p:spPr>
          <a:xfrm>
            <a:off x="857250" y="4029075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输入样本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204DB8-0E42-4DF6-80F5-FBF9B8409463}"/>
              </a:ext>
            </a:extLst>
          </p:cNvPr>
          <p:cNvSpPr>
            <a:spLocks noGrp="1"/>
          </p:cNvSpPr>
          <p:nvPr/>
        </p:nvSpPr>
        <p:spPr>
          <a:xfrm>
            <a:off x="857250" y="4410075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VSD 表达矩阵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B112391-DD1E-4596-A031-B6D22E7AE400}"/>
              </a:ext>
            </a:extLst>
          </p:cNvPr>
          <p:cNvSpPr>
            <a:spLocks noGrp="1"/>
          </p:cNvSpPr>
          <p:nvPr/>
        </p:nvSpPr>
        <p:spPr>
          <a:xfrm>
            <a:off x="3048000" y="417195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B6F5AD-E741-48C4-B858-58856C818586}"/>
              </a:ext>
            </a:extLst>
          </p:cNvPr>
          <p:cNvSpPr>
            <a:spLocks noGrp="1"/>
          </p:cNvSpPr>
          <p:nvPr/>
        </p:nvSpPr>
        <p:spPr>
          <a:xfrm>
            <a:off x="3505200" y="3857625"/>
            <a:ext cx="2238375" cy="1066800"/>
          </a:xfrm>
          <a:prstGeom prst="rect">
            <a:avLst/>
          </a:prstGeom>
          <a:solidFill>
            <a:srgbClr val="EAF2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85A172-EC58-4D3C-94D1-04FE7DB18D40}"/>
              </a:ext>
            </a:extLst>
          </p:cNvPr>
          <p:cNvSpPr>
            <a:spLocks noGrp="1"/>
          </p:cNvSpPr>
          <p:nvPr/>
        </p:nvSpPr>
        <p:spPr>
          <a:xfrm>
            <a:off x="3676650" y="4029075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Network 主判定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0E7849B-30A0-481D-B28A-7FC9393B5A38}"/>
              </a:ext>
            </a:extLst>
          </p:cNvPr>
          <p:cNvSpPr>
            <a:spLocks noGrp="1"/>
          </p:cNvSpPr>
          <p:nvPr/>
        </p:nvSpPr>
        <p:spPr>
          <a:xfrm>
            <a:off x="3676650" y="4410075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SaleemNetworks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C9482CC-23A6-42F5-862A-D02B903A755E}"/>
              </a:ext>
            </a:extLst>
          </p:cNvPr>
          <p:cNvSpPr>
            <a:spLocks noGrp="1"/>
          </p:cNvSpPr>
          <p:nvPr/>
        </p:nvSpPr>
        <p:spPr>
          <a:xfrm>
            <a:off x="5867400" y="417195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B8C57B8-F400-4AB4-A90C-53B7A975F061}"/>
              </a:ext>
            </a:extLst>
          </p:cNvPr>
          <p:cNvSpPr>
            <a:spLocks noGrp="1"/>
          </p:cNvSpPr>
          <p:nvPr/>
        </p:nvSpPr>
        <p:spPr>
          <a:xfrm>
            <a:off x="6324600" y="3857625"/>
            <a:ext cx="2238375" cy="1066800"/>
          </a:xfrm>
          <a:prstGeom prst="rect">
            <a:avLst/>
          </a:prstGeom>
          <a:solidFill>
            <a:srgbClr val="EAF7E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729178E-B846-4B92-A181-FE3DEBB61BD3}"/>
              </a:ext>
            </a:extLst>
          </p:cNvPr>
          <p:cNvSpPr>
            <a:spLocks noGrp="1"/>
          </p:cNvSpPr>
          <p:nvPr/>
        </p:nvSpPr>
        <p:spPr>
          <a:xfrm>
            <a:off x="6496050" y="4029075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Region 候选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A2EED82-7978-43B4-AD09-1430C81D0E20}"/>
              </a:ext>
            </a:extLst>
          </p:cNvPr>
          <p:cNvSpPr>
            <a:spLocks noGrp="1"/>
          </p:cNvSpPr>
          <p:nvPr/>
        </p:nvSpPr>
        <p:spPr>
          <a:xfrm>
            <a:off x="6496050" y="4410075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Top3 beam 内排序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4626B59-3932-4196-B5E4-0DA5346A1AF7}"/>
              </a:ext>
            </a:extLst>
          </p:cNvPr>
          <p:cNvSpPr>
            <a:spLocks noGrp="1"/>
          </p:cNvSpPr>
          <p:nvPr/>
        </p:nvSpPr>
        <p:spPr>
          <a:xfrm>
            <a:off x="8686800" y="417195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551572F-C819-4727-A7E2-B5B1F3DC4C56}"/>
              </a:ext>
            </a:extLst>
          </p:cNvPr>
          <p:cNvSpPr>
            <a:spLocks noGrp="1"/>
          </p:cNvSpPr>
          <p:nvPr/>
        </p:nvSpPr>
        <p:spPr>
          <a:xfrm>
            <a:off x="9144000" y="3857625"/>
            <a:ext cx="2238375" cy="1066800"/>
          </a:xfrm>
          <a:prstGeom prst="rect">
            <a:avLst/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A25E9F1-16FC-4FD1-B1B2-8256F6ECD8F5}"/>
              </a:ext>
            </a:extLst>
          </p:cNvPr>
          <p:cNvSpPr>
            <a:spLocks noGrp="1"/>
          </p:cNvSpPr>
          <p:nvPr/>
        </p:nvSpPr>
        <p:spPr>
          <a:xfrm>
            <a:off x="9315450" y="4029075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分辨率注释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8A9D04-DEBB-4074-9AF1-D32A42CD06A1}"/>
              </a:ext>
            </a:extLst>
          </p:cNvPr>
          <p:cNvSpPr>
            <a:spLocks noGrp="1"/>
          </p:cNvSpPr>
          <p:nvPr/>
        </p:nvSpPr>
        <p:spPr>
          <a:xfrm>
            <a:off x="9315450" y="4410075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same-Network max6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BD4F5D9-E023-4B5E-9983-E7EB18B3A00D}"/>
              </a:ext>
            </a:extLst>
          </p:cNvPr>
          <p:cNvSpPr>
            <a:spLocks noGrp="1"/>
          </p:cNvSpPr>
          <p:nvPr/>
        </p:nvSpPr>
        <p:spPr>
          <a:xfrm>
            <a:off x="2714625" y="5381625"/>
            <a:ext cx="6762750" cy="323850"/>
          </a:xfrm>
          <a:prstGeom prst="rect">
            <a:avLst/>
          </a:prstGeom>
          <a:solidFill>
            <a:srgbClr val="0F2742"/>
          </a:solidFill>
          <a:ln w="0">
            <a:solidFill>
              <a:srgbClr val="0F2742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C3DAD84-465B-460C-BC45-DF0BAAA0157A}"/>
              </a:ext>
            </a:extLst>
          </p:cNvPr>
          <p:cNvSpPr>
            <a:spLocks noGrp="1"/>
          </p:cNvSpPr>
          <p:nvPr/>
        </p:nvSpPr>
        <p:spPr>
          <a:xfrm>
            <a:off x="2714625" y="5429250"/>
            <a:ext cx="676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正式输出原则：先给稳定层级，再给精细候选和可信边界</a:t>
            </a:r>
          </a:p>
        </p:txBody>
      </p:sp>
    </p:spTree>
    <p:extLst>
      <p:ext uri="{BB962C8B-B14F-4D97-AF65-F5344CB8AC3E}">
        <p14:creationId xmlns:p14="http://schemas.microsoft.com/office/powerpoint/2010/main" val="52030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DD1D43CB-A695-48FF-8C6A-467AC783A2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28650"/>
          </a:xfrm>
          <a:prstGeom prst="rect">
            <a:avLst/>
          </a:prstGeom>
          <a:solidFill>
            <a:srgbClr val="0F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2C7A9D-BEEF-42A2-BCB0-E7BB28326CFF}"/>
              </a:ext>
            </a:extLst>
          </p:cNvPr>
          <p:cNvSpPr>
            <a:spLocks noGrp="1"/>
          </p:cNvSpPr>
          <p:nvPr/>
        </p:nvSpPr>
        <p:spPr>
          <a:xfrm>
            <a:off x="419100" y="142875"/>
            <a:ext cx="885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判定方法：严格 LOSO 防止信息泄漏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0D4FC6-5656-4366-B701-2FA35CE1DAA1}"/>
              </a:ext>
            </a:extLst>
          </p:cNvPr>
          <p:cNvSpPr>
            <a:spLocks noGrp="1"/>
          </p:cNvSpPr>
          <p:nvPr/>
        </p:nvSpPr>
        <p:spPr>
          <a:xfrm>
            <a:off x="9429750" y="200025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FE7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E7FF"/>
                </a:solidFill>
                <a:latin typeface="Aptos"/>
                <a:ea typeface="Aptos"/>
                <a:cs typeface="Aptos"/>
              </a:rPr>
              <a:t>Bo2023 formal source tracing route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AB87E8-8EEC-4A96-B0A3-45A929B625C1}"/>
              </a:ext>
            </a:extLst>
          </p:cNvPr>
          <p:cNvSpPr>
            <a:spLocks noGrp="1"/>
          </p:cNvSpPr>
          <p:nvPr/>
        </p:nvSpPr>
        <p:spPr>
          <a:xfrm>
            <a:off x="419100" y="657225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Strict LOSO · Network first · Region second · Resolution-aware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964C41-9DE0-436C-864F-9A6ADCED28F0}"/>
              </a:ext>
            </a:extLst>
          </p:cNvPr>
          <p:cNvSpPr>
            <a:spLocks noGrp="1"/>
          </p:cNvSpPr>
          <p:nvPr/>
        </p:nvSpPr>
        <p:spPr>
          <a:xfrm>
            <a:off x="571500" y="904875"/>
            <a:ext cx="1066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LOSO = Leave-One-Sample-Out。每次只留出 1 个样本当“未知样本”，其余样本才允许参与训练和校准。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467FC6-BAB2-45E9-9FB1-4CC3B11DD909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2381250" cy="19526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C8954B-DBE9-4A02-BC97-2ADCFB9218DD}"/>
              </a:ext>
            </a:extLst>
          </p:cNvPr>
          <p:cNvSpPr>
            <a:spLocks noGrp="1"/>
          </p:cNvSpPr>
          <p:nvPr/>
        </p:nvSpPr>
        <p:spPr>
          <a:xfrm>
            <a:off x="781050" y="2076450"/>
            <a:ext cx="438150" cy="43815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55E70-02EB-4631-86F2-84B1C29CDC79}"/>
              </a:ext>
            </a:extLst>
          </p:cNvPr>
          <p:cNvSpPr>
            <a:spLocks noGrp="1"/>
          </p:cNvSpPr>
          <p:nvPr/>
        </p:nvSpPr>
        <p:spPr>
          <a:xfrm>
            <a:off x="781050" y="21336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ED82AB-6992-4CB8-8A8E-B0782EE0502F}"/>
              </a:ext>
            </a:extLst>
          </p:cNvPr>
          <p:cNvSpPr>
            <a:spLocks noGrp="1"/>
          </p:cNvSpPr>
          <p:nvPr/>
        </p:nvSpPr>
        <p:spPr>
          <a:xfrm>
            <a:off x="1352550" y="2133600"/>
            <a:ext cx="1428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留出样本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FBDEC8-7A75-454F-A1FC-86F9F30208B2}"/>
              </a:ext>
            </a:extLst>
          </p:cNvPr>
          <p:cNvSpPr>
            <a:spLocks noGrp="1"/>
          </p:cNvSpPr>
          <p:nvPr/>
        </p:nvSpPr>
        <p:spPr>
          <a:xfrm>
            <a:off x="800100" y="2781300"/>
            <a:ext cx="2000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取出 1 个已知 Region 样本，隐藏真实标签。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4EB8F9-1B9E-4158-836A-7F7185E08621}"/>
              </a:ext>
            </a:extLst>
          </p:cNvPr>
          <p:cNvSpPr>
            <a:spLocks noGrp="1"/>
          </p:cNvSpPr>
          <p:nvPr/>
        </p:nvSpPr>
        <p:spPr>
          <a:xfrm>
            <a:off x="3505200" y="1857375"/>
            <a:ext cx="2381250" cy="19526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5D46AC-02EF-4D39-9E0D-C30608197C29}"/>
              </a:ext>
            </a:extLst>
          </p:cNvPr>
          <p:cNvSpPr>
            <a:spLocks noGrp="1"/>
          </p:cNvSpPr>
          <p:nvPr/>
        </p:nvSpPr>
        <p:spPr>
          <a:xfrm>
            <a:off x="3676650" y="2076450"/>
            <a:ext cx="438150" cy="43815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5757498-6ABD-40AB-A224-B702EFDCC401}"/>
              </a:ext>
            </a:extLst>
          </p:cNvPr>
          <p:cNvSpPr>
            <a:spLocks noGrp="1"/>
          </p:cNvSpPr>
          <p:nvPr/>
        </p:nvSpPr>
        <p:spPr>
          <a:xfrm>
            <a:off x="3676650" y="21336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EA7CF1A-83D9-43E1-94F1-AE1520983119}"/>
              </a:ext>
            </a:extLst>
          </p:cNvPr>
          <p:cNvSpPr>
            <a:spLocks noGrp="1"/>
          </p:cNvSpPr>
          <p:nvPr/>
        </p:nvSpPr>
        <p:spPr>
          <a:xfrm>
            <a:off x="4248150" y="2133600"/>
            <a:ext cx="1428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折内训练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2911B7F-A881-45FF-8610-47E860D76684}"/>
              </a:ext>
            </a:extLst>
          </p:cNvPr>
          <p:cNvSpPr>
            <a:spLocks noGrp="1"/>
          </p:cNvSpPr>
          <p:nvPr/>
        </p:nvSpPr>
        <p:spPr>
          <a:xfrm>
            <a:off x="3695700" y="2781300"/>
            <a:ext cx="2000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用剩余样本构建 reference、选基因、建 group。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16ECC48-3B49-401D-9D59-7E05BC434687}"/>
              </a:ext>
            </a:extLst>
          </p:cNvPr>
          <p:cNvSpPr>
            <a:spLocks noGrp="1"/>
          </p:cNvSpPr>
          <p:nvPr/>
        </p:nvSpPr>
        <p:spPr>
          <a:xfrm>
            <a:off x="6400800" y="1857375"/>
            <a:ext cx="2381250" cy="19526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A786698-8D6B-4381-BB9F-00041EB656D7}"/>
              </a:ext>
            </a:extLst>
          </p:cNvPr>
          <p:cNvSpPr>
            <a:spLocks noGrp="1"/>
          </p:cNvSpPr>
          <p:nvPr/>
        </p:nvSpPr>
        <p:spPr>
          <a:xfrm>
            <a:off x="6572250" y="2076450"/>
            <a:ext cx="438150" cy="43815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47C697D-DB3A-474E-AC02-BD54401083AA}"/>
              </a:ext>
            </a:extLst>
          </p:cNvPr>
          <p:cNvSpPr>
            <a:spLocks noGrp="1"/>
          </p:cNvSpPr>
          <p:nvPr/>
        </p:nvSpPr>
        <p:spPr>
          <a:xfrm>
            <a:off x="6572250" y="21336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953F425-E039-485D-9D50-A6A2C801C6AC}"/>
              </a:ext>
            </a:extLst>
          </p:cNvPr>
          <p:cNvSpPr>
            <a:spLocks noGrp="1"/>
          </p:cNvSpPr>
          <p:nvPr/>
        </p:nvSpPr>
        <p:spPr>
          <a:xfrm>
            <a:off x="7143750" y="2133600"/>
            <a:ext cx="1428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预测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DF3316B-4B29-4E90-9580-E50975FCCAF3}"/>
              </a:ext>
            </a:extLst>
          </p:cNvPr>
          <p:cNvSpPr>
            <a:spLocks noGrp="1"/>
          </p:cNvSpPr>
          <p:nvPr/>
        </p:nvSpPr>
        <p:spPr>
          <a:xfrm>
            <a:off x="6591300" y="2781300"/>
            <a:ext cx="2000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对留出样本输出 Network、Region Top1/Top3。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01595-A229-4F2A-B415-1918E01180BE}"/>
              </a:ext>
            </a:extLst>
          </p:cNvPr>
          <p:cNvSpPr>
            <a:spLocks noGrp="1"/>
          </p:cNvSpPr>
          <p:nvPr/>
        </p:nvSpPr>
        <p:spPr>
          <a:xfrm>
            <a:off x="9296400" y="1857375"/>
            <a:ext cx="2381250" cy="19526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66955D-C1D6-4469-9C67-D6B057472DAB}"/>
              </a:ext>
            </a:extLst>
          </p:cNvPr>
          <p:cNvSpPr>
            <a:spLocks noGrp="1"/>
          </p:cNvSpPr>
          <p:nvPr/>
        </p:nvSpPr>
        <p:spPr>
          <a:xfrm>
            <a:off x="9467850" y="2076450"/>
            <a:ext cx="438150" cy="43815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E8B968A-82F9-4090-A12F-3CC4C43D71B2}"/>
              </a:ext>
            </a:extLst>
          </p:cNvPr>
          <p:cNvSpPr>
            <a:spLocks noGrp="1"/>
          </p:cNvSpPr>
          <p:nvPr/>
        </p:nvSpPr>
        <p:spPr>
          <a:xfrm>
            <a:off x="9467850" y="2133600"/>
            <a:ext cx="438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B16EE0-48A8-41BB-B28D-FAF4CD26E301}"/>
              </a:ext>
            </a:extLst>
          </p:cNvPr>
          <p:cNvSpPr>
            <a:spLocks noGrp="1"/>
          </p:cNvSpPr>
          <p:nvPr/>
        </p:nvSpPr>
        <p:spPr>
          <a:xfrm>
            <a:off x="10039350" y="2133600"/>
            <a:ext cx="1428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计分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040DCD7-63B7-40E4-8E78-50E3E2869763}"/>
              </a:ext>
            </a:extLst>
          </p:cNvPr>
          <p:cNvSpPr>
            <a:spLocks noGrp="1"/>
          </p:cNvSpPr>
          <p:nvPr/>
        </p:nvSpPr>
        <p:spPr>
          <a:xfrm>
            <a:off x="9486900" y="2781300"/>
            <a:ext cx="2000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比较预测与真实 Region，做配对统计。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D0FF50F-E3FF-41EB-B10B-430574BC163D}"/>
              </a:ext>
            </a:extLst>
          </p:cNvPr>
          <p:cNvSpPr>
            <a:spLocks noGrp="1"/>
          </p:cNvSpPr>
          <p:nvPr/>
        </p:nvSpPr>
        <p:spPr>
          <a:xfrm>
            <a:off x="1047750" y="4333875"/>
            <a:ext cx="2857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E9839AF-8717-4D95-822E-D72947A3336B}"/>
              </a:ext>
            </a:extLst>
          </p:cNvPr>
          <p:cNvSpPr>
            <a:spLocks noGrp="1"/>
          </p:cNvSpPr>
          <p:nvPr/>
        </p:nvSpPr>
        <p:spPr>
          <a:xfrm>
            <a:off x="1219200" y="4476750"/>
            <a:ext cx="25146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原始已知来源样本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AC9D4B7-DF8A-4B6D-8960-BD5A64B819F1}"/>
              </a:ext>
            </a:extLst>
          </p:cNvPr>
          <p:cNvSpPr>
            <a:spLocks noGrp="1"/>
          </p:cNvSpPr>
          <p:nvPr/>
        </p:nvSpPr>
        <p:spPr>
          <a:xfrm>
            <a:off x="1219200" y="4781550"/>
            <a:ext cx="2514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rPr>
              <a:t>819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7DBA6CF-0AFF-4CA2-AAF8-4909CAA4D665}"/>
              </a:ext>
            </a:extLst>
          </p:cNvPr>
          <p:cNvSpPr>
            <a:spLocks noGrp="1"/>
          </p:cNvSpPr>
          <p:nvPr/>
        </p:nvSpPr>
        <p:spPr>
          <a:xfrm>
            <a:off x="1219200" y="5324475"/>
            <a:ext cx="2514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Bo2023 已知 Region 样本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C628834-E3E7-403D-9259-9BF59FB2196C}"/>
              </a:ext>
            </a:extLst>
          </p:cNvPr>
          <p:cNvSpPr>
            <a:spLocks noGrp="1"/>
          </p:cNvSpPr>
          <p:nvPr/>
        </p:nvSpPr>
        <p:spPr>
          <a:xfrm>
            <a:off x="4667250" y="4333875"/>
            <a:ext cx="2857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2183A9D-16E3-4412-853B-7653B19FC24F}"/>
              </a:ext>
            </a:extLst>
          </p:cNvPr>
          <p:cNvSpPr>
            <a:spLocks noGrp="1"/>
          </p:cNvSpPr>
          <p:nvPr/>
        </p:nvSpPr>
        <p:spPr>
          <a:xfrm>
            <a:off x="4838700" y="4476750"/>
            <a:ext cx="25146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严格可评估样本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42D74F0-4648-4046-A674-0463FAF95A9D}"/>
              </a:ext>
            </a:extLst>
          </p:cNvPr>
          <p:cNvSpPr>
            <a:spLocks noGrp="1"/>
          </p:cNvSpPr>
          <p:nvPr/>
        </p:nvSpPr>
        <p:spPr>
          <a:xfrm>
            <a:off x="4838700" y="4781550"/>
            <a:ext cx="2514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rPr>
              <a:t>814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C3AC7CC-EBE2-4932-B6AB-93955A8FEA31}"/>
              </a:ext>
            </a:extLst>
          </p:cNvPr>
          <p:cNvSpPr>
            <a:spLocks noGrp="1"/>
          </p:cNvSpPr>
          <p:nvPr/>
        </p:nvSpPr>
        <p:spPr>
          <a:xfrm>
            <a:off x="4838700" y="5324475"/>
            <a:ext cx="2514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singleton Region 排除 5 个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2ED6EF4-D5E9-4F48-B919-6BCDB1C9B954}"/>
              </a:ext>
            </a:extLst>
          </p:cNvPr>
          <p:cNvSpPr>
            <a:spLocks noGrp="1"/>
          </p:cNvSpPr>
          <p:nvPr/>
        </p:nvSpPr>
        <p:spPr>
          <a:xfrm>
            <a:off x="8286750" y="4333875"/>
            <a:ext cx="2857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EF52C54-12A4-4F3D-BD36-E28D714450FA}"/>
              </a:ext>
            </a:extLst>
          </p:cNvPr>
          <p:cNvSpPr>
            <a:spLocks noGrp="1"/>
          </p:cNvSpPr>
          <p:nvPr/>
        </p:nvSpPr>
        <p:spPr>
          <a:xfrm>
            <a:off x="8458200" y="4476750"/>
            <a:ext cx="25146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比较方式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A2A4554-DE83-4D7D-864B-BD4EEDB71667}"/>
              </a:ext>
            </a:extLst>
          </p:cNvPr>
          <p:cNvSpPr>
            <a:spLocks noGrp="1"/>
          </p:cNvSpPr>
          <p:nvPr/>
        </p:nvSpPr>
        <p:spPr>
          <a:xfrm>
            <a:off x="8458200" y="4781550"/>
            <a:ext cx="2514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配对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DFE3A41-D511-424F-AE69-D094AB5562B6}"/>
              </a:ext>
            </a:extLst>
          </p:cNvPr>
          <p:cNvSpPr>
            <a:spLocks noGrp="1"/>
          </p:cNvSpPr>
          <p:nvPr/>
        </p:nvSpPr>
        <p:spPr>
          <a:xfrm>
            <a:off x="8458200" y="5324475"/>
            <a:ext cx="2514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同一批留出样本逐项比较</a:t>
            </a:r>
          </a:p>
        </p:txBody>
      </p:sp>
    </p:spTree>
    <p:extLst>
      <p:ext uri="{BB962C8B-B14F-4D97-AF65-F5344CB8AC3E}">
        <p14:creationId xmlns:p14="http://schemas.microsoft.com/office/powerpoint/2010/main" val="615045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>
            <a:extLst>
              <a:ext uri="{FF2B5EF4-FFF2-40B4-BE49-F238E27FC236}">
                <a16:creationId xmlns:a16="http://schemas.microsoft.com/office/drawing/2014/main" id="{D572F168-CAE9-4410-8A4D-42E3CA12BD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28650"/>
          </a:xfrm>
          <a:prstGeom prst="rect">
            <a:avLst/>
          </a:prstGeom>
          <a:solidFill>
            <a:srgbClr val="0F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0FBFE4-6A19-4910-A9E3-9D1E21BC8C76}"/>
              </a:ext>
            </a:extLst>
          </p:cNvPr>
          <p:cNvSpPr>
            <a:spLocks noGrp="1"/>
          </p:cNvSpPr>
          <p:nvPr/>
        </p:nvSpPr>
        <p:spPr>
          <a:xfrm>
            <a:off x="419100" y="142875"/>
            <a:ext cx="885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优化一：Exact Region 由 Top200 改为 Top50/Top100 融合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9778D1-4989-4AA2-AAB3-C4F111EE87A1}"/>
              </a:ext>
            </a:extLst>
          </p:cNvPr>
          <p:cNvSpPr>
            <a:spLocks noGrp="1"/>
          </p:cNvSpPr>
          <p:nvPr/>
        </p:nvSpPr>
        <p:spPr>
          <a:xfrm>
            <a:off x="9429750" y="200025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FE7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E7FF"/>
                </a:solidFill>
                <a:latin typeface="Aptos"/>
                <a:ea typeface="Aptos"/>
                <a:cs typeface="Aptos"/>
              </a:rPr>
              <a:t>Bo2023 formal source tracing route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ACBA60-CC41-4FE0-B9BE-FCAD46016322}"/>
              </a:ext>
            </a:extLst>
          </p:cNvPr>
          <p:cNvSpPr>
            <a:spLocks noGrp="1"/>
          </p:cNvSpPr>
          <p:nvPr/>
        </p:nvSpPr>
        <p:spPr>
          <a:xfrm>
            <a:off x="419100" y="657225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Strict LOSO · Network first · Region second · Resolution-aware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14D556-C1DF-47FE-87E0-2BD91E5193A0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9334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目标：提高精确 Region Top3，同时不牺牲 Top1。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65DEE0-3BF8-47D6-9C12-5DA8EC644975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9239250" cy="400050"/>
          </a:xfrm>
          <a:prstGeom prst="rect">
            <a:avLst/>
          </a:prstGeom>
          <a:solidFill>
            <a:srgbClr val="0F2742"/>
          </a:solidFill>
          <a:ln w="9525">
            <a:solidFill>
              <a:srgbClr val="0F274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920254-B283-467F-90F4-CA04B5AEA8D9}"/>
              </a:ext>
            </a:extLst>
          </p:cNvPr>
          <p:cNvSpPr>
            <a:spLocks noGrp="1"/>
          </p:cNvSpPr>
          <p:nvPr/>
        </p:nvSpPr>
        <p:spPr>
          <a:xfrm>
            <a:off x="714375" y="1562100"/>
            <a:ext cx="3905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路线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579130-0E75-4314-ACBA-AC5BC44DF710}"/>
              </a:ext>
            </a:extLst>
          </p:cNvPr>
          <p:cNvSpPr>
            <a:spLocks noGrp="1"/>
          </p:cNvSpPr>
          <p:nvPr/>
        </p:nvSpPr>
        <p:spPr>
          <a:xfrm>
            <a:off x="4810125" y="15621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Top1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B585DC-B778-4019-8C46-C9B96DEB8E4F}"/>
              </a:ext>
            </a:extLst>
          </p:cNvPr>
          <p:cNvSpPr>
            <a:spLocks noGrp="1"/>
          </p:cNvSpPr>
          <p:nvPr/>
        </p:nvSpPr>
        <p:spPr>
          <a:xfrm>
            <a:off x="6143625" y="15621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Top3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4E0C1D-7B80-45A3-9E4D-8FCD9B96DD8A}"/>
              </a:ext>
            </a:extLst>
          </p:cNvPr>
          <p:cNvSpPr>
            <a:spLocks noGrp="1"/>
          </p:cNvSpPr>
          <p:nvPr/>
        </p:nvSpPr>
        <p:spPr>
          <a:xfrm>
            <a:off x="7515225" y="1381125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4523DE-E229-4F16-A075-5A9EE810FA9D}"/>
              </a:ext>
            </a:extLst>
          </p:cNvPr>
          <p:cNvSpPr>
            <a:spLocks noGrp="1"/>
          </p:cNvSpPr>
          <p:nvPr/>
        </p:nvSpPr>
        <p:spPr>
          <a:xfrm>
            <a:off x="619125" y="1876425"/>
            <a:ext cx="9239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8A44B1-F2C4-46A8-9108-2C3DAC87C10B}"/>
              </a:ext>
            </a:extLst>
          </p:cNvPr>
          <p:cNvSpPr>
            <a:spLocks noGrp="1"/>
          </p:cNvSpPr>
          <p:nvPr/>
        </p:nvSpPr>
        <p:spPr>
          <a:xfrm>
            <a:off x="714375" y="1962150"/>
            <a:ext cx="3905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旧 Top200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33FA01-95AC-4A07-A6C2-9F51DAC1F92D}"/>
              </a:ext>
            </a:extLst>
          </p:cNvPr>
          <p:cNvSpPr>
            <a:spLocks noGrp="1"/>
          </p:cNvSpPr>
          <p:nvPr/>
        </p:nvSpPr>
        <p:spPr>
          <a:xfrm>
            <a:off x="4810125" y="19621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21.3%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6896219-5931-4113-92BA-2E2B5625CB91}"/>
              </a:ext>
            </a:extLst>
          </p:cNvPr>
          <p:cNvSpPr>
            <a:spLocks noGrp="1"/>
          </p:cNvSpPr>
          <p:nvPr/>
        </p:nvSpPr>
        <p:spPr>
          <a:xfrm>
            <a:off x="6143625" y="19621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41.6%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F57B30A-C782-4327-91AD-B32555B5C44E}"/>
              </a:ext>
            </a:extLst>
          </p:cNvPr>
          <p:cNvSpPr>
            <a:spLocks noGrp="1"/>
          </p:cNvSpPr>
          <p:nvPr/>
        </p:nvSpPr>
        <p:spPr>
          <a:xfrm>
            <a:off x="7515225" y="1781175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551D3F-4C4E-40C2-9343-2815445FDB5F}"/>
              </a:ext>
            </a:extLst>
          </p:cNvPr>
          <p:cNvSpPr>
            <a:spLocks noGrp="1"/>
          </p:cNvSpPr>
          <p:nvPr/>
        </p:nvSpPr>
        <p:spPr>
          <a:xfrm>
            <a:off x="619125" y="2276475"/>
            <a:ext cx="9239250" cy="4000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747740-EB00-4234-80EE-6991A7550198}"/>
              </a:ext>
            </a:extLst>
          </p:cNvPr>
          <p:cNvSpPr>
            <a:spLocks noGrp="1"/>
          </p:cNvSpPr>
          <p:nvPr/>
        </p:nvSpPr>
        <p:spPr>
          <a:xfrm>
            <a:off x="714375" y="2362200"/>
            <a:ext cx="3905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Top50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1015B0-64D1-48A3-A51C-4512FD40317F}"/>
              </a:ext>
            </a:extLst>
          </p:cNvPr>
          <p:cNvSpPr>
            <a:spLocks noGrp="1"/>
          </p:cNvSpPr>
          <p:nvPr/>
        </p:nvSpPr>
        <p:spPr>
          <a:xfrm>
            <a:off x="4810125" y="23622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22.0%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E0CA351-7BF4-444A-A985-691329B41FE8}"/>
              </a:ext>
            </a:extLst>
          </p:cNvPr>
          <p:cNvSpPr>
            <a:spLocks noGrp="1"/>
          </p:cNvSpPr>
          <p:nvPr/>
        </p:nvSpPr>
        <p:spPr>
          <a:xfrm>
            <a:off x="6143625" y="23622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42.8%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09C167E-F9C0-4FD2-9ADC-CEFFA7883B14}"/>
              </a:ext>
            </a:extLst>
          </p:cNvPr>
          <p:cNvSpPr>
            <a:spLocks noGrp="1"/>
          </p:cNvSpPr>
          <p:nvPr/>
        </p:nvSpPr>
        <p:spPr>
          <a:xfrm>
            <a:off x="7515225" y="2181225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提升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5B36AD-3A16-4208-B15E-CFD905EE3C09}"/>
              </a:ext>
            </a:extLst>
          </p:cNvPr>
          <p:cNvSpPr>
            <a:spLocks noGrp="1"/>
          </p:cNvSpPr>
          <p:nvPr/>
        </p:nvSpPr>
        <p:spPr>
          <a:xfrm>
            <a:off x="619125" y="2676525"/>
            <a:ext cx="9239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54D2249-F034-46DE-8FD8-CCF1E4984E87}"/>
              </a:ext>
            </a:extLst>
          </p:cNvPr>
          <p:cNvSpPr>
            <a:spLocks noGrp="1"/>
          </p:cNvSpPr>
          <p:nvPr/>
        </p:nvSpPr>
        <p:spPr>
          <a:xfrm>
            <a:off x="714375" y="2762250"/>
            <a:ext cx="3905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Top100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90BBB69-C630-4048-9275-4E0EB935D0BB}"/>
              </a:ext>
            </a:extLst>
          </p:cNvPr>
          <p:cNvSpPr>
            <a:spLocks noGrp="1"/>
          </p:cNvSpPr>
          <p:nvPr/>
        </p:nvSpPr>
        <p:spPr>
          <a:xfrm>
            <a:off x="4810125" y="27622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21.5%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F3D61A-0BE2-431E-8861-8BEE8C1D781C}"/>
              </a:ext>
            </a:extLst>
          </p:cNvPr>
          <p:cNvSpPr>
            <a:spLocks noGrp="1"/>
          </p:cNvSpPr>
          <p:nvPr/>
        </p:nvSpPr>
        <p:spPr>
          <a:xfrm>
            <a:off x="6143625" y="27622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43.4%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8721A6F-B14F-4475-A313-0A373A6922CE}"/>
              </a:ext>
            </a:extLst>
          </p:cNvPr>
          <p:cNvSpPr>
            <a:spLocks noGrp="1"/>
          </p:cNvSpPr>
          <p:nvPr/>
        </p:nvSpPr>
        <p:spPr>
          <a:xfrm>
            <a:off x="7515225" y="2581275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提升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133DC2A-B08D-497C-94C9-F586A1BCEE27}"/>
              </a:ext>
            </a:extLst>
          </p:cNvPr>
          <p:cNvSpPr>
            <a:spLocks noGrp="1"/>
          </p:cNvSpPr>
          <p:nvPr/>
        </p:nvSpPr>
        <p:spPr>
          <a:xfrm>
            <a:off x="619125" y="3076575"/>
            <a:ext cx="9239250" cy="4000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0EA70AC-C18F-4168-8DB3-80A55E7B1D7B}"/>
              </a:ext>
            </a:extLst>
          </p:cNvPr>
          <p:cNvSpPr>
            <a:spLocks noGrp="1"/>
          </p:cNvSpPr>
          <p:nvPr/>
        </p:nvSpPr>
        <p:spPr>
          <a:xfrm>
            <a:off x="714375" y="3162300"/>
            <a:ext cx="3905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正式：Top50/100 z-fusion w=0.25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0FEADAB-B274-4CE5-856A-3714549B676B}"/>
              </a:ext>
            </a:extLst>
          </p:cNvPr>
          <p:cNvSpPr>
            <a:spLocks noGrp="1"/>
          </p:cNvSpPr>
          <p:nvPr/>
        </p:nvSpPr>
        <p:spPr>
          <a:xfrm>
            <a:off x="4810125" y="31623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22.2%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795320A-84BA-48C8-B207-3852604093C9}"/>
              </a:ext>
            </a:extLst>
          </p:cNvPr>
          <p:cNvSpPr>
            <a:spLocks noGrp="1"/>
          </p:cNvSpPr>
          <p:nvPr/>
        </p:nvSpPr>
        <p:spPr>
          <a:xfrm>
            <a:off x="6143625" y="31623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44.5%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E33B361-B117-4E00-803A-D502F181C502}"/>
              </a:ext>
            </a:extLst>
          </p:cNvPr>
          <p:cNvSpPr>
            <a:spLocks noGrp="1"/>
          </p:cNvSpPr>
          <p:nvPr/>
        </p:nvSpPr>
        <p:spPr>
          <a:xfrm>
            <a:off x="7515225" y="2981325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采纳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097CE25-8D73-4A64-A014-6E94D1B92CF4}"/>
              </a:ext>
            </a:extLst>
          </p:cNvPr>
          <p:cNvSpPr>
            <a:spLocks noGrp="1"/>
          </p:cNvSpPr>
          <p:nvPr/>
        </p:nvSpPr>
        <p:spPr>
          <a:xfrm>
            <a:off x="619125" y="3476625"/>
            <a:ext cx="9239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252AD44-EA77-4444-A81A-8DB7C48566A9}"/>
              </a:ext>
            </a:extLst>
          </p:cNvPr>
          <p:cNvSpPr>
            <a:spLocks noGrp="1"/>
          </p:cNvSpPr>
          <p:nvPr/>
        </p:nvSpPr>
        <p:spPr>
          <a:xfrm>
            <a:off x="714375" y="3562350"/>
            <a:ext cx="3905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Top50/100 z-fusion w=0.50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D96B476-275C-4FEC-806E-D3541EEBA19D}"/>
              </a:ext>
            </a:extLst>
          </p:cNvPr>
          <p:cNvSpPr>
            <a:spLocks noGrp="1"/>
          </p:cNvSpPr>
          <p:nvPr/>
        </p:nvSpPr>
        <p:spPr>
          <a:xfrm>
            <a:off x="4810125" y="35623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21.9%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3E0E620-BFEA-49F3-9CBA-3D8F480E668F}"/>
              </a:ext>
            </a:extLst>
          </p:cNvPr>
          <p:cNvSpPr>
            <a:spLocks noGrp="1"/>
          </p:cNvSpPr>
          <p:nvPr/>
        </p:nvSpPr>
        <p:spPr>
          <a:xfrm>
            <a:off x="6143625" y="35623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44.6%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BAD17E4-AD8A-4ADC-9688-FF2D23ECC757}"/>
              </a:ext>
            </a:extLst>
          </p:cNvPr>
          <p:cNvSpPr>
            <a:spLocks noGrp="1"/>
          </p:cNvSpPr>
          <p:nvPr/>
        </p:nvSpPr>
        <p:spPr>
          <a:xfrm>
            <a:off x="7515225" y="3381375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Top1 略低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43A0055-1035-410C-88D7-F3069C45CFAD}"/>
              </a:ext>
            </a:extLst>
          </p:cNvPr>
          <p:cNvSpPr>
            <a:spLocks noGrp="1"/>
          </p:cNvSpPr>
          <p:nvPr/>
        </p:nvSpPr>
        <p:spPr>
          <a:xfrm>
            <a:off x="7238999" y="1457325"/>
            <a:ext cx="4791075" cy="25336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29A8B2D-4089-4E27-A99B-F2A5B9557088}"/>
              </a:ext>
            </a:extLst>
          </p:cNvPr>
          <p:cNvSpPr>
            <a:spLocks noGrp="1"/>
          </p:cNvSpPr>
          <p:nvPr/>
        </p:nvSpPr>
        <p:spPr>
          <a:xfrm>
            <a:off x="7277100" y="149542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Top3 命中率对比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7E2A82A-3027-4DF6-A73F-1B7A9254300D}"/>
              </a:ext>
            </a:extLst>
          </p:cNvPr>
          <p:cNvSpPr>
            <a:spLocks noGrp="1"/>
          </p:cNvSpPr>
          <p:nvPr/>
        </p:nvSpPr>
        <p:spPr>
          <a:xfrm>
            <a:off x="7277100" y="1914525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旧 Top200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B932D98-9555-4656-8E6B-0C2C7E0889A4}"/>
              </a:ext>
            </a:extLst>
          </p:cNvPr>
          <p:cNvSpPr>
            <a:spLocks noGrp="1"/>
          </p:cNvSpPr>
          <p:nvPr/>
        </p:nvSpPr>
        <p:spPr>
          <a:xfrm>
            <a:off x="9610725" y="1943100"/>
            <a:ext cx="1762125" cy="209550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7D94C64-335B-4271-B641-130563C30207}"/>
              </a:ext>
            </a:extLst>
          </p:cNvPr>
          <p:cNvSpPr>
            <a:spLocks noGrp="1"/>
          </p:cNvSpPr>
          <p:nvPr/>
        </p:nvSpPr>
        <p:spPr>
          <a:xfrm>
            <a:off x="9610725" y="1943100"/>
            <a:ext cx="1466088" cy="209550"/>
          </a:xfrm>
          <a:prstGeom prst="rect">
            <a:avLst/>
          </a:prstGeom>
          <a:solidFill>
            <a:srgbClr val="64748B"/>
          </a:solidFill>
          <a:ln w="0">
            <a:solidFill>
              <a:srgbClr val="64748B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A48FBB0-38DC-493C-A6CD-2CA416954FAF}"/>
              </a:ext>
            </a:extLst>
          </p:cNvPr>
          <p:cNvSpPr>
            <a:spLocks noGrp="1"/>
          </p:cNvSpPr>
          <p:nvPr/>
        </p:nvSpPr>
        <p:spPr>
          <a:xfrm>
            <a:off x="11468100" y="1914525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41.6%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87E70BF-F68B-45F9-998F-F292B80D0A1E}"/>
              </a:ext>
            </a:extLst>
          </p:cNvPr>
          <p:cNvSpPr>
            <a:spLocks noGrp="1"/>
          </p:cNvSpPr>
          <p:nvPr/>
        </p:nvSpPr>
        <p:spPr>
          <a:xfrm>
            <a:off x="7277100" y="23622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Top50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B070716-83C1-438A-884B-D2E15EF2A16A}"/>
              </a:ext>
            </a:extLst>
          </p:cNvPr>
          <p:cNvSpPr>
            <a:spLocks noGrp="1"/>
          </p:cNvSpPr>
          <p:nvPr/>
        </p:nvSpPr>
        <p:spPr>
          <a:xfrm>
            <a:off x="9610725" y="2390775"/>
            <a:ext cx="1762125" cy="209550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21D7CA4-BCFD-4EC7-8F11-B57DC9311CD4}"/>
              </a:ext>
            </a:extLst>
          </p:cNvPr>
          <p:cNvSpPr>
            <a:spLocks noGrp="1"/>
          </p:cNvSpPr>
          <p:nvPr/>
        </p:nvSpPr>
        <p:spPr>
          <a:xfrm>
            <a:off x="9610725" y="2390775"/>
            <a:ext cx="1508379" cy="209550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C07985D-5247-4C8A-895C-BFF15E675EEB}"/>
              </a:ext>
            </a:extLst>
          </p:cNvPr>
          <p:cNvSpPr>
            <a:spLocks noGrp="1"/>
          </p:cNvSpPr>
          <p:nvPr/>
        </p:nvSpPr>
        <p:spPr>
          <a:xfrm>
            <a:off x="11468100" y="23622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42.8%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1860919-9821-4D4C-9C02-1A12E454EB13}"/>
              </a:ext>
            </a:extLst>
          </p:cNvPr>
          <p:cNvSpPr>
            <a:spLocks noGrp="1"/>
          </p:cNvSpPr>
          <p:nvPr/>
        </p:nvSpPr>
        <p:spPr>
          <a:xfrm>
            <a:off x="7277100" y="2809875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Top100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75A0BE3-F66B-496D-A9EB-85BE1AE395C6}"/>
              </a:ext>
            </a:extLst>
          </p:cNvPr>
          <p:cNvSpPr>
            <a:spLocks noGrp="1"/>
          </p:cNvSpPr>
          <p:nvPr/>
        </p:nvSpPr>
        <p:spPr>
          <a:xfrm>
            <a:off x="9610725" y="2838450"/>
            <a:ext cx="1762125" cy="209550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CED2DE0-1AD0-4B56-A317-D6FADBD32C50}"/>
              </a:ext>
            </a:extLst>
          </p:cNvPr>
          <p:cNvSpPr>
            <a:spLocks noGrp="1"/>
          </p:cNvSpPr>
          <p:nvPr/>
        </p:nvSpPr>
        <p:spPr>
          <a:xfrm>
            <a:off x="9610725" y="2838450"/>
            <a:ext cx="1529525" cy="20955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108DF55-CD92-47D7-AE99-EF7A8ACF000F}"/>
              </a:ext>
            </a:extLst>
          </p:cNvPr>
          <p:cNvSpPr>
            <a:spLocks noGrp="1"/>
          </p:cNvSpPr>
          <p:nvPr/>
        </p:nvSpPr>
        <p:spPr>
          <a:xfrm>
            <a:off x="11468100" y="2809875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43.4%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17F7590-EB9F-4E49-BC02-42847069A29B}"/>
              </a:ext>
            </a:extLst>
          </p:cNvPr>
          <p:cNvSpPr>
            <a:spLocks noGrp="1"/>
          </p:cNvSpPr>
          <p:nvPr/>
        </p:nvSpPr>
        <p:spPr>
          <a:xfrm>
            <a:off x="7277100" y="32575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正式 w=0.25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EED2AC6-BD81-4CEE-843D-2164BAA92529}"/>
              </a:ext>
            </a:extLst>
          </p:cNvPr>
          <p:cNvSpPr>
            <a:spLocks noGrp="1"/>
          </p:cNvSpPr>
          <p:nvPr/>
        </p:nvSpPr>
        <p:spPr>
          <a:xfrm>
            <a:off x="9610725" y="3286125"/>
            <a:ext cx="1762125" cy="209550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B1AC074-B157-4ED5-ABE1-9F3FE8F93D2D}"/>
              </a:ext>
            </a:extLst>
          </p:cNvPr>
          <p:cNvSpPr>
            <a:spLocks noGrp="1"/>
          </p:cNvSpPr>
          <p:nvPr/>
        </p:nvSpPr>
        <p:spPr>
          <a:xfrm>
            <a:off x="9610725" y="3286125"/>
            <a:ext cx="1568291" cy="20955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9B2A106-CA63-4AE3-B649-33994F1A4937}"/>
              </a:ext>
            </a:extLst>
          </p:cNvPr>
          <p:cNvSpPr>
            <a:spLocks noGrp="1"/>
          </p:cNvSpPr>
          <p:nvPr/>
        </p:nvSpPr>
        <p:spPr>
          <a:xfrm>
            <a:off x="11468100" y="325755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44.5%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6AFBBCF-5546-42B0-BDB5-A76C8922CBCF}"/>
              </a:ext>
            </a:extLst>
          </p:cNvPr>
          <p:cNvSpPr>
            <a:spLocks noGrp="1"/>
          </p:cNvSpPr>
          <p:nvPr/>
        </p:nvSpPr>
        <p:spPr>
          <a:xfrm>
            <a:off x="7277100" y="3705225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w=0.50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8A7E749-7E9C-4242-8CAC-74EEBA907D14}"/>
              </a:ext>
            </a:extLst>
          </p:cNvPr>
          <p:cNvSpPr>
            <a:spLocks noGrp="1"/>
          </p:cNvSpPr>
          <p:nvPr/>
        </p:nvSpPr>
        <p:spPr>
          <a:xfrm>
            <a:off x="9610725" y="3733800"/>
            <a:ext cx="1762125" cy="209550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D053A4C-501B-4A8D-957C-6738793AC72B}"/>
              </a:ext>
            </a:extLst>
          </p:cNvPr>
          <p:cNvSpPr>
            <a:spLocks noGrp="1"/>
          </p:cNvSpPr>
          <p:nvPr/>
        </p:nvSpPr>
        <p:spPr>
          <a:xfrm>
            <a:off x="9610725" y="3733800"/>
            <a:ext cx="1571816" cy="20955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FCBCA74-A177-4D46-BB2A-C30CA85A2513}"/>
              </a:ext>
            </a:extLst>
          </p:cNvPr>
          <p:cNvSpPr>
            <a:spLocks noGrp="1"/>
          </p:cNvSpPr>
          <p:nvPr/>
        </p:nvSpPr>
        <p:spPr>
          <a:xfrm>
            <a:off x="11468100" y="3705225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44.6%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CA12E98-22E6-464F-B0CD-3042D617F578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10715625" cy="876300"/>
          </a:xfrm>
          <a:prstGeom prst="rect">
            <a:avLst/>
          </a:prstGeom>
          <a:solidFill>
            <a:srgbClr val="EAF7EE"/>
          </a:solidFill>
          <a:ln w="9525">
            <a:solidFill>
              <a:srgbClr val="16A34A"/>
            </a:solidFill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A5585FC-024A-413D-8246-D8DEE301221E}"/>
              </a:ext>
            </a:extLst>
          </p:cNvPr>
          <p:cNvSpPr>
            <a:spLocks noGrp="1"/>
          </p:cNvSpPr>
          <p:nvPr/>
        </p:nvSpPr>
        <p:spPr>
          <a:xfrm>
            <a:off x="857250" y="5067300"/>
            <a:ext cx="1009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采纳理由：w=0.25 的 Top1 最高，Top3 相比旧 Top200 增加 23 个命中；w=0.50 虽 Top3 微高，但 Top1 下降。</a:t>
            </a:r>
          </a:p>
        </p:txBody>
      </p:sp>
    </p:spTree>
    <p:extLst>
      <p:ext uri="{BB962C8B-B14F-4D97-AF65-F5344CB8AC3E}">
        <p14:creationId xmlns:p14="http://schemas.microsoft.com/office/powerpoint/2010/main" val="1218953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5D3970F6-F80F-4EC8-AA60-884331A24C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28650"/>
          </a:xfrm>
          <a:prstGeom prst="rect">
            <a:avLst/>
          </a:prstGeom>
          <a:solidFill>
            <a:srgbClr val="0F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080096-98A7-4814-AA9A-8B41F66D4425}"/>
              </a:ext>
            </a:extLst>
          </p:cNvPr>
          <p:cNvSpPr>
            <a:spLocks noGrp="1"/>
          </p:cNvSpPr>
          <p:nvPr/>
        </p:nvSpPr>
        <p:spPr>
          <a:xfrm>
            <a:off x="419100" y="142875"/>
            <a:ext cx="885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优化二：same-Network max6 resolution group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31EC87-A27D-4AE8-ADAC-7EBB6E40D01C}"/>
              </a:ext>
            </a:extLst>
          </p:cNvPr>
          <p:cNvSpPr>
            <a:spLocks noGrp="1"/>
          </p:cNvSpPr>
          <p:nvPr/>
        </p:nvSpPr>
        <p:spPr>
          <a:xfrm>
            <a:off x="9429750" y="200025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FE7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E7FF"/>
                </a:solidFill>
                <a:latin typeface="Aptos"/>
                <a:ea typeface="Aptos"/>
                <a:cs typeface="Aptos"/>
              </a:rPr>
              <a:t>Bo2023 formal source tracing route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AEF3D1-33F4-4460-A298-E9CF1D4F4099}"/>
              </a:ext>
            </a:extLst>
          </p:cNvPr>
          <p:cNvSpPr>
            <a:spLocks noGrp="1"/>
          </p:cNvSpPr>
          <p:nvPr/>
        </p:nvSpPr>
        <p:spPr>
          <a:xfrm>
            <a:off x="419100" y="657225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Strict LOSO · Network first · Region second · Resolution-aware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060468-6610-482D-9212-12E82160C8B5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4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问题：部分相邻/同网络 Region 在 Bo2023 内表达相似，强行给 exact Top1 会制造过度精确。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F6735A-1A40-4B71-80CA-64FBE2DBECFF}"/>
              </a:ext>
            </a:extLst>
          </p:cNvPr>
          <p:cNvSpPr>
            <a:spLocks noGrp="1"/>
          </p:cNvSpPr>
          <p:nvPr/>
        </p:nvSpPr>
        <p:spPr>
          <a:xfrm>
            <a:off x="714375" y="1619250"/>
            <a:ext cx="9048750" cy="514350"/>
          </a:xfrm>
          <a:prstGeom prst="rect">
            <a:avLst/>
          </a:prstGeom>
          <a:solidFill>
            <a:srgbClr val="0F2742"/>
          </a:solidFill>
          <a:ln w="9525">
            <a:solidFill>
              <a:srgbClr val="0F274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83F474-AEBB-4AF7-A855-8A06E1408926}"/>
              </a:ext>
            </a:extLst>
          </p:cNvPr>
          <p:cNvSpPr>
            <a:spLocks noGrp="1"/>
          </p:cNvSpPr>
          <p:nvPr/>
        </p:nvSpPr>
        <p:spPr>
          <a:xfrm>
            <a:off x="809625" y="1704975"/>
            <a:ext cx="371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分组规则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69EE50-0710-4FF7-A1B0-BC71306A2E0D}"/>
              </a:ext>
            </a:extLst>
          </p:cNvPr>
          <p:cNvSpPr>
            <a:spLocks noGrp="1"/>
          </p:cNvSpPr>
          <p:nvPr/>
        </p:nvSpPr>
        <p:spPr>
          <a:xfrm>
            <a:off x="4714875" y="1704975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Group Top1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1AD9C1-0477-4E08-BE78-298987697B71}"/>
              </a:ext>
            </a:extLst>
          </p:cNvPr>
          <p:cNvSpPr>
            <a:spLocks noGrp="1"/>
          </p:cNvSpPr>
          <p:nvPr/>
        </p:nvSpPr>
        <p:spPr>
          <a:xfrm>
            <a:off x="6238875" y="1704975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Group Top3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122350-298F-4C60-AF55-197CA0AC3178}"/>
              </a:ext>
            </a:extLst>
          </p:cNvPr>
          <p:cNvSpPr>
            <a:spLocks noGrp="1"/>
          </p:cNvSpPr>
          <p:nvPr/>
        </p:nvSpPr>
        <p:spPr>
          <a:xfrm>
            <a:off x="7762875" y="1704975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FD7E67-ABE3-44C5-83B5-90B7E00CE842}"/>
              </a:ext>
            </a:extLst>
          </p:cNvPr>
          <p:cNvSpPr>
            <a:spLocks noGrp="1"/>
          </p:cNvSpPr>
          <p:nvPr/>
        </p:nvSpPr>
        <p:spPr>
          <a:xfrm>
            <a:off x="714375" y="2133600"/>
            <a:ext cx="9048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63DFFF-2D77-400A-9D63-228816E9B52A}"/>
              </a:ext>
            </a:extLst>
          </p:cNvPr>
          <p:cNvSpPr>
            <a:spLocks noGrp="1"/>
          </p:cNvSpPr>
          <p:nvPr/>
        </p:nvSpPr>
        <p:spPr>
          <a:xfrm>
            <a:off x="809625" y="2219325"/>
            <a:ext cx="371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same-Network max4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C16E48-A508-4E61-9A3C-109BE0839450}"/>
              </a:ext>
            </a:extLst>
          </p:cNvPr>
          <p:cNvSpPr>
            <a:spLocks noGrp="1"/>
          </p:cNvSpPr>
          <p:nvPr/>
        </p:nvSpPr>
        <p:spPr>
          <a:xfrm>
            <a:off x="4714875" y="2219325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34.2%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9C1055-3CCD-4481-9778-413EAF7CF95B}"/>
              </a:ext>
            </a:extLst>
          </p:cNvPr>
          <p:cNvSpPr>
            <a:spLocks noGrp="1"/>
          </p:cNvSpPr>
          <p:nvPr/>
        </p:nvSpPr>
        <p:spPr>
          <a:xfrm>
            <a:off x="6238875" y="2219325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57.9%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5FDF59C-322C-4F88-8D43-58982A309451}"/>
              </a:ext>
            </a:extLst>
          </p:cNvPr>
          <p:cNvSpPr>
            <a:spLocks noGrp="1"/>
          </p:cNvSpPr>
          <p:nvPr/>
        </p:nvSpPr>
        <p:spPr>
          <a:xfrm>
            <a:off x="7762875" y="2219325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旧基线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5D3F563-2546-439D-B512-9B6739E4C8C2}"/>
              </a:ext>
            </a:extLst>
          </p:cNvPr>
          <p:cNvSpPr>
            <a:spLocks noGrp="1"/>
          </p:cNvSpPr>
          <p:nvPr/>
        </p:nvSpPr>
        <p:spPr>
          <a:xfrm>
            <a:off x="714375" y="2647950"/>
            <a:ext cx="9048750" cy="5143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50AC573-3D30-4386-B8D2-DDBBF1AD2A05}"/>
              </a:ext>
            </a:extLst>
          </p:cNvPr>
          <p:cNvSpPr>
            <a:spLocks noGrp="1"/>
          </p:cNvSpPr>
          <p:nvPr/>
        </p:nvSpPr>
        <p:spPr>
          <a:xfrm>
            <a:off x="809625" y="2733675"/>
            <a:ext cx="371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same-Network max6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2EDFE91-207B-4EBE-AE26-9B04902A2F3C}"/>
              </a:ext>
            </a:extLst>
          </p:cNvPr>
          <p:cNvSpPr>
            <a:spLocks noGrp="1"/>
          </p:cNvSpPr>
          <p:nvPr/>
        </p:nvSpPr>
        <p:spPr>
          <a:xfrm>
            <a:off x="4714875" y="2733675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35.3%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6CBF741-E61E-49FE-95B0-DD430B9730D3}"/>
              </a:ext>
            </a:extLst>
          </p:cNvPr>
          <p:cNvSpPr>
            <a:spLocks noGrp="1"/>
          </p:cNvSpPr>
          <p:nvPr/>
        </p:nvSpPr>
        <p:spPr>
          <a:xfrm>
            <a:off x="6238875" y="2733675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58.4%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7FDD193-2FCA-46D7-ACFC-DF0E83EB839B}"/>
              </a:ext>
            </a:extLst>
          </p:cNvPr>
          <p:cNvSpPr>
            <a:spLocks noGrp="1"/>
          </p:cNvSpPr>
          <p:nvPr/>
        </p:nvSpPr>
        <p:spPr>
          <a:xfrm>
            <a:off x="7762875" y="2733675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采纳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986D656-8E8B-499F-8C19-0CE8CA844197}"/>
              </a:ext>
            </a:extLst>
          </p:cNvPr>
          <p:cNvSpPr>
            <a:spLocks noGrp="1"/>
          </p:cNvSpPr>
          <p:nvPr/>
        </p:nvSpPr>
        <p:spPr>
          <a:xfrm>
            <a:off x="714375" y="3162300"/>
            <a:ext cx="9048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69886B4-DEF9-4DBE-BEDF-23A9E7B68D38}"/>
              </a:ext>
            </a:extLst>
          </p:cNvPr>
          <p:cNvSpPr>
            <a:spLocks noGrp="1"/>
          </p:cNvSpPr>
          <p:nvPr/>
        </p:nvSpPr>
        <p:spPr>
          <a:xfrm>
            <a:off x="809625" y="3248025"/>
            <a:ext cx="371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cross-Network max6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C4CF33C-5BFA-4F7E-8913-9EEF487E07B7}"/>
              </a:ext>
            </a:extLst>
          </p:cNvPr>
          <p:cNvSpPr>
            <a:spLocks noGrp="1"/>
          </p:cNvSpPr>
          <p:nvPr/>
        </p:nvSpPr>
        <p:spPr>
          <a:xfrm>
            <a:off x="4714875" y="3248025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34.4%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C5EB802-59D3-4D98-B1DA-9948A2FDDE1F}"/>
              </a:ext>
            </a:extLst>
          </p:cNvPr>
          <p:cNvSpPr>
            <a:spLocks noGrp="1"/>
          </p:cNvSpPr>
          <p:nvPr/>
        </p:nvSpPr>
        <p:spPr>
          <a:xfrm>
            <a:off x="6238875" y="3248025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55.0%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8AE8DDF-3ADD-4A02-BBE7-C2C155EBB584}"/>
              </a:ext>
            </a:extLst>
          </p:cNvPr>
          <p:cNvSpPr>
            <a:spLocks noGrp="1"/>
          </p:cNvSpPr>
          <p:nvPr/>
        </p:nvSpPr>
        <p:spPr>
          <a:xfrm>
            <a:off x="7762875" y="3248025"/>
            <a:ext cx="190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拒绝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E7AA0E9-1EED-4066-A325-A4DE554C7ED4}"/>
              </a:ext>
            </a:extLst>
          </p:cNvPr>
          <p:cNvSpPr>
            <a:spLocks noGrp="1"/>
          </p:cNvSpPr>
          <p:nvPr/>
        </p:nvSpPr>
        <p:spPr>
          <a:xfrm>
            <a:off x="714375" y="4095750"/>
            <a:ext cx="4953000" cy="1381125"/>
          </a:xfrm>
          <a:prstGeom prst="rect">
            <a:avLst/>
          </a:prstGeom>
          <a:solidFill>
            <a:srgbClr val="EAF2FF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BE30D11-96F1-46FA-B905-CEEB72A4A4A9}"/>
              </a:ext>
            </a:extLst>
          </p:cNvPr>
          <p:cNvSpPr>
            <a:spLocks noGrp="1"/>
          </p:cNvSpPr>
          <p:nvPr/>
        </p:nvSpPr>
        <p:spPr>
          <a:xfrm>
            <a:off x="952500" y="4333875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resolvable group 是什么？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7A362E9-8CC3-4A7C-9272-422962C3651D}"/>
              </a:ext>
            </a:extLst>
          </p:cNvPr>
          <p:cNvSpPr>
            <a:spLocks noGrp="1"/>
          </p:cNvSpPr>
          <p:nvPr/>
        </p:nvSpPr>
        <p:spPr>
          <a:xfrm>
            <a:off x="952500" y="4762500"/>
            <a:ext cx="4191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把本数据集中长期互相混淆、且同属一个 Network 的少量 Region 合并成可解释候选组。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962A6E0-CB29-4574-8B31-658CF46F1E41}"/>
              </a:ext>
            </a:extLst>
          </p:cNvPr>
          <p:cNvSpPr>
            <a:spLocks noGrp="1"/>
          </p:cNvSpPr>
          <p:nvPr/>
        </p:nvSpPr>
        <p:spPr>
          <a:xfrm>
            <a:off x="6334125" y="4095750"/>
            <a:ext cx="4953000" cy="1381125"/>
          </a:xfrm>
          <a:prstGeom prst="rect">
            <a:avLst/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2AB278E-0202-4CF6-AE2D-00D047D3006F}"/>
              </a:ext>
            </a:extLst>
          </p:cNvPr>
          <p:cNvSpPr>
            <a:spLocks noGrp="1"/>
          </p:cNvSpPr>
          <p:nvPr/>
        </p:nvSpPr>
        <p:spPr>
          <a:xfrm>
            <a:off x="6572250" y="4333875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low_resolution 是什么？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DB73D67-C724-492A-B22E-94C854E355C0}"/>
              </a:ext>
            </a:extLst>
          </p:cNvPr>
          <p:cNvSpPr>
            <a:spLocks noGrp="1"/>
          </p:cNvSpPr>
          <p:nvPr/>
        </p:nvSpPr>
        <p:spPr>
          <a:xfrm>
            <a:off x="6572250" y="4762500"/>
            <a:ext cx="4191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正式输出中的警告：当前图谱无法稳定拆到更细 Region，建议按候选组解读或人工复核。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220AE11-E572-4D20-B994-96912F1DE81D}"/>
              </a:ext>
            </a:extLst>
          </p:cNvPr>
          <p:cNvSpPr>
            <a:spLocks noGrp="1"/>
          </p:cNvSpPr>
          <p:nvPr/>
        </p:nvSpPr>
        <p:spPr>
          <a:xfrm>
            <a:off x="971550" y="5934075"/>
            <a:ext cx="95250" cy="95250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E9CCB12-300D-4B2A-8AA1-67E3774C96DD}"/>
              </a:ext>
            </a:extLst>
          </p:cNvPr>
          <p:cNvSpPr>
            <a:spLocks noGrp="1"/>
          </p:cNvSpPr>
          <p:nvPr/>
        </p:nvSpPr>
        <p:spPr>
          <a:xfrm>
            <a:off x="1181100" y="5857875"/>
            <a:ext cx="85725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只允许 same-Network 合并；不接入 cross-Network 合并。</a:t>
            </a:r>
          </a:p>
        </p:txBody>
      </p:sp>
    </p:spTree>
    <p:extLst>
      <p:ext uri="{BB962C8B-B14F-4D97-AF65-F5344CB8AC3E}">
        <p14:creationId xmlns:p14="http://schemas.microsoft.com/office/powerpoint/2010/main" val="2018821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8535033A-FC09-4F23-A2B8-DB62990349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28650"/>
          </a:xfrm>
          <a:prstGeom prst="rect">
            <a:avLst/>
          </a:prstGeom>
          <a:solidFill>
            <a:srgbClr val="0F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9462A8-050F-4171-9FBB-F6822355DC10}"/>
              </a:ext>
            </a:extLst>
          </p:cNvPr>
          <p:cNvSpPr>
            <a:spLocks noGrp="1"/>
          </p:cNvSpPr>
          <p:nvPr/>
        </p:nvSpPr>
        <p:spPr>
          <a:xfrm>
            <a:off x="419100" y="142875"/>
            <a:ext cx="885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被拒绝优化：Top5 beam 与 rerank 未带来收益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00B8C9-0F3D-4960-A917-89945DD40143}"/>
              </a:ext>
            </a:extLst>
          </p:cNvPr>
          <p:cNvSpPr>
            <a:spLocks noGrp="1"/>
          </p:cNvSpPr>
          <p:nvPr/>
        </p:nvSpPr>
        <p:spPr>
          <a:xfrm>
            <a:off x="9429750" y="200025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FE7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E7FF"/>
                </a:solidFill>
                <a:latin typeface="Aptos"/>
                <a:ea typeface="Aptos"/>
                <a:cs typeface="Aptos"/>
              </a:rPr>
              <a:t>Bo2023 formal source tracing route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2559A7-0A82-4CF7-B72F-08B223C2AD1B}"/>
              </a:ext>
            </a:extLst>
          </p:cNvPr>
          <p:cNvSpPr>
            <a:spLocks noGrp="1"/>
          </p:cNvSpPr>
          <p:nvPr/>
        </p:nvSpPr>
        <p:spPr>
          <a:xfrm>
            <a:off x="419100" y="657225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Strict LOSO · Network first · Region second · Resolution-aware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F058EF-9CEF-45E5-B71B-3BD6089B8C76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66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测试过更宽候选，但结果显示：Top5 扩宽主要引入相似 Region 噪声，不适合作为正式路径。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598CCA-A3ED-4912-A6E9-B360F780079F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0048875" cy="552450"/>
          </a:xfrm>
          <a:prstGeom prst="rect">
            <a:avLst/>
          </a:prstGeom>
          <a:solidFill>
            <a:srgbClr val="0F2742"/>
          </a:solidFill>
          <a:ln w="9525">
            <a:solidFill>
              <a:srgbClr val="0F274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0EE1EA-F7DA-460C-AB1A-CD544F6B7139}"/>
              </a:ext>
            </a:extLst>
          </p:cNvPr>
          <p:cNvSpPr>
            <a:spLocks noGrp="1"/>
          </p:cNvSpPr>
          <p:nvPr/>
        </p:nvSpPr>
        <p:spPr>
          <a:xfrm>
            <a:off x="952500" y="1752600"/>
            <a:ext cx="41433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路线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6E861BE-6740-4825-BF00-ABB040F2F2A4}"/>
              </a:ext>
            </a:extLst>
          </p:cNvPr>
          <p:cNvSpPr>
            <a:spLocks noGrp="1"/>
          </p:cNvSpPr>
          <p:nvPr/>
        </p:nvSpPr>
        <p:spPr>
          <a:xfrm>
            <a:off x="5286375" y="1752600"/>
            <a:ext cx="1238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Top1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CBD08C-E1C0-4629-8A07-CF0F193024F3}"/>
              </a:ext>
            </a:extLst>
          </p:cNvPr>
          <p:cNvSpPr>
            <a:spLocks noGrp="1"/>
          </p:cNvSpPr>
          <p:nvPr/>
        </p:nvSpPr>
        <p:spPr>
          <a:xfrm>
            <a:off x="6715125" y="1752600"/>
            <a:ext cx="1238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Top3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D7F39D-0BD8-4194-944D-396A1F0409CB}"/>
              </a:ext>
            </a:extLst>
          </p:cNvPr>
          <p:cNvSpPr>
            <a:spLocks noGrp="1"/>
          </p:cNvSpPr>
          <p:nvPr/>
        </p:nvSpPr>
        <p:spPr>
          <a:xfrm>
            <a:off x="8143875" y="1752600"/>
            <a:ext cx="2667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E8736C-A767-4529-9A11-E4E30DB3BAB9}"/>
              </a:ext>
            </a:extLst>
          </p:cNvPr>
          <p:cNvSpPr>
            <a:spLocks noGrp="1"/>
          </p:cNvSpPr>
          <p:nvPr/>
        </p:nvSpPr>
        <p:spPr>
          <a:xfrm>
            <a:off x="857250" y="2219325"/>
            <a:ext cx="100488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78EE5C8-2BB7-4306-B13F-3DEF730040E3}"/>
              </a:ext>
            </a:extLst>
          </p:cNvPr>
          <p:cNvSpPr>
            <a:spLocks noGrp="1"/>
          </p:cNvSpPr>
          <p:nvPr/>
        </p:nvSpPr>
        <p:spPr>
          <a:xfrm>
            <a:off x="952500" y="2305050"/>
            <a:ext cx="41433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当前正式 Top3 beam fusion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FDBA84-D006-41DA-9B69-673FD6B5173C}"/>
              </a:ext>
            </a:extLst>
          </p:cNvPr>
          <p:cNvSpPr>
            <a:spLocks noGrp="1"/>
          </p:cNvSpPr>
          <p:nvPr/>
        </p:nvSpPr>
        <p:spPr>
          <a:xfrm>
            <a:off x="5286375" y="2305050"/>
            <a:ext cx="1238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22.2%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63851D-EA67-4CD0-B0B9-9D5B33BE6CC5}"/>
              </a:ext>
            </a:extLst>
          </p:cNvPr>
          <p:cNvSpPr>
            <a:spLocks noGrp="1"/>
          </p:cNvSpPr>
          <p:nvPr/>
        </p:nvSpPr>
        <p:spPr>
          <a:xfrm>
            <a:off x="6715125" y="2305050"/>
            <a:ext cx="1238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44.5%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F15410D-CF1B-4110-B807-2995D94D27B1}"/>
              </a:ext>
            </a:extLst>
          </p:cNvPr>
          <p:cNvSpPr>
            <a:spLocks noGrp="1"/>
          </p:cNvSpPr>
          <p:nvPr/>
        </p:nvSpPr>
        <p:spPr>
          <a:xfrm>
            <a:off x="8143875" y="2305050"/>
            <a:ext cx="2667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DBBDC5B-CB4B-4DC8-9D7F-0B1BFAC4FC93}"/>
              </a:ext>
            </a:extLst>
          </p:cNvPr>
          <p:cNvSpPr>
            <a:spLocks noGrp="1"/>
          </p:cNvSpPr>
          <p:nvPr/>
        </p:nvSpPr>
        <p:spPr>
          <a:xfrm>
            <a:off x="857250" y="2771775"/>
            <a:ext cx="10048875" cy="5524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C805E66-5C12-49A9-9E4C-12D222136D4F}"/>
              </a:ext>
            </a:extLst>
          </p:cNvPr>
          <p:cNvSpPr>
            <a:spLocks noGrp="1"/>
          </p:cNvSpPr>
          <p:nvPr/>
        </p:nvSpPr>
        <p:spPr>
          <a:xfrm>
            <a:off x="952500" y="2857500"/>
            <a:ext cx="41433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Top5 conservative rerank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4F1FC0B-9AEF-48F8-B11A-18BECCD8F433}"/>
              </a:ext>
            </a:extLst>
          </p:cNvPr>
          <p:cNvSpPr>
            <a:spLocks noGrp="1"/>
          </p:cNvSpPr>
          <p:nvPr/>
        </p:nvSpPr>
        <p:spPr>
          <a:xfrm>
            <a:off x="5286375" y="2857500"/>
            <a:ext cx="1238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22.2%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8C29630-8F7C-401C-8D2D-66E4624FE7C1}"/>
              </a:ext>
            </a:extLst>
          </p:cNvPr>
          <p:cNvSpPr>
            <a:spLocks noGrp="1"/>
          </p:cNvSpPr>
          <p:nvPr/>
        </p:nvSpPr>
        <p:spPr>
          <a:xfrm>
            <a:off x="6715125" y="2857500"/>
            <a:ext cx="1238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44.5%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5C56495-9938-4CE3-8D46-BB1B7F452564}"/>
              </a:ext>
            </a:extLst>
          </p:cNvPr>
          <p:cNvSpPr>
            <a:spLocks noGrp="1"/>
          </p:cNvSpPr>
          <p:nvPr/>
        </p:nvSpPr>
        <p:spPr>
          <a:xfrm>
            <a:off x="8143875" y="2857500"/>
            <a:ext cx="2667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+2/-2，无净收益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45B86D-DB65-458E-971C-8A5B2C5802E0}"/>
              </a:ext>
            </a:extLst>
          </p:cNvPr>
          <p:cNvSpPr>
            <a:spLocks noGrp="1"/>
          </p:cNvSpPr>
          <p:nvPr/>
        </p:nvSpPr>
        <p:spPr>
          <a:xfrm>
            <a:off x="857250" y="3324225"/>
            <a:ext cx="100488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5F48CB7-31AA-4806-9540-1055E0F9465F}"/>
              </a:ext>
            </a:extLst>
          </p:cNvPr>
          <p:cNvSpPr>
            <a:spLocks noGrp="1"/>
          </p:cNvSpPr>
          <p:nvPr/>
        </p:nvSpPr>
        <p:spPr>
          <a:xfrm>
            <a:off x="952500" y="3409950"/>
            <a:ext cx="414337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Top5 raw fusion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85A002D-FAAB-40B4-AB93-583BDB6C786E}"/>
              </a:ext>
            </a:extLst>
          </p:cNvPr>
          <p:cNvSpPr>
            <a:spLocks noGrp="1"/>
          </p:cNvSpPr>
          <p:nvPr/>
        </p:nvSpPr>
        <p:spPr>
          <a:xfrm>
            <a:off x="5286375" y="3409950"/>
            <a:ext cx="1238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20.5%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99702CB-16CD-4187-9BA7-52D1EB68F780}"/>
              </a:ext>
            </a:extLst>
          </p:cNvPr>
          <p:cNvSpPr>
            <a:spLocks noGrp="1"/>
          </p:cNvSpPr>
          <p:nvPr/>
        </p:nvSpPr>
        <p:spPr>
          <a:xfrm>
            <a:off x="6715125" y="3409950"/>
            <a:ext cx="1238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38.0%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52ADA60-3AAD-4DAC-BB25-CE75778D832E}"/>
              </a:ext>
            </a:extLst>
          </p:cNvPr>
          <p:cNvSpPr>
            <a:spLocks noGrp="1"/>
          </p:cNvSpPr>
          <p:nvPr/>
        </p:nvSpPr>
        <p:spPr>
          <a:xfrm>
            <a:off x="8143875" y="3409950"/>
            <a:ext cx="2667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明显下降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773D11-4688-4702-BEB5-337E8B6FC58F}"/>
              </a:ext>
            </a:extLst>
          </p:cNvPr>
          <p:cNvSpPr>
            <a:spLocks noGrp="1"/>
          </p:cNvSpPr>
          <p:nvPr/>
        </p:nvSpPr>
        <p:spPr>
          <a:xfrm>
            <a:off x="1095375" y="4381500"/>
            <a:ext cx="9667875" cy="1143000"/>
          </a:xfrm>
          <a:prstGeom prst="rect">
            <a:avLst/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7397483-EF59-474C-920E-2BC59E47EDA3}"/>
              </a:ext>
            </a:extLst>
          </p:cNvPr>
          <p:cNvSpPr>
            <a:spLocks noGrp="1"/>
          </p:cNvSpPr>
          <p:nvPr/>
        </p:nvSpPr>
        <p:spPr>
          <a:xfrm>
            <a:off x="1428750" y="4648200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正式决策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EFACBFB-CD6A-4189-8241-FD9722F4C939}"/>
              </a:ext>
            </a:extLst>
          </p:cNvPr>
          <p:cNvSpPr>
            <a:spLocks noGrp="1"/>
          </p:cNvSpPr>
          <p:nvPr/>
        </p:nvSpPr>
        <p:spPr>
          <a:xfrm>
            <a:off x="2952750" y="4648200"/>
            <a:ext cx="7239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不接入 Top5；不增加宽泛重排。当前优先保护 Top1 稳定性和 Top3 可解释性。</a:t>
            </a:r>
          </a:p>
        </p:txBody>
      </p:sp>
    </p:spTree>
    <p:extLst>
      <p:ext uri="{BB962C8B-B14F-4D97-AF65-F5344CB8AC3E}">
        <p14:creationId xmlns:p14="http://schemas.microsoft.com/office/powerpoint/2010/main" val="1744001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1C4B7E09-CF28-4380-A4E3-F6B8807ACD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28650"/>
          </a:xfrm>
          <a:prstGeom prst="rect">
            <a:avLst/>
          </a:prstGeom>
          <a:solidFill>
            <a:srgbClr val="0F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1062E7-1011-410B-A61B-B5DED661FEF9}"/>
              </a:ext>
            </a:extLst>
          </p:cNvPr>
          <p:cNvSpPr>
            <a:spLocks noGrp="1"/>
          </p:cNvSpPr>
          <p:nvPr/>
        </p:nvSpPr>
        <p:spPr>
          <a:xfrm>
            <a:off x="419100" y="142875"/>
            <a:ext cx="885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专有名词解释：路线组件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31D80A-0EF4-4053-85D7-A6E1AEC79C08}"/>
              </a:ext>
            </a:extLst>
          </p:cNvPr>
          <p:cNvSpPr>
            <a:spLocks noGrp="1"/>
          </p:cNvSpPr>
          <p:nvPr/>
        </p:nvSpPr>
        <p:spPr>
          <a:xfrm>
            <a:off x="9429750" y="200025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FE7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E7FF"/>
                </a:solidFill>
                <a:latin typeface="Aptos"/>
                <a:ea typeface="Aptos"/>
                <a:cs typeface="Aptos"/>
              </a:rPr>
              <a:t>Bo2023 formal source tracing route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4F1E7C-B8D6-44EE-B648-A28180E845DD}"/>
              </a:ext>
            </a:extLst>
          </p:cNvPr>
          <p:cNvSpPr>
            <a:spLocks noGrp="1"/>
          </p:cNvSpPr>
          <p:nvPr/>
        </p:nvSpPr>
        <p:spPr>
          <a:xfrm>
            <a:off x="419100" y="657225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Strict LOSO · Network first · Region second · Resolution-aware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0C28C1-3EA7-4C0B-9872-088620053F63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3476625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FB233B-DF6A-4342-BDDE-F357F3398A78}"/>
              </a:ext>
            </a:extLst>
          </p:cNvPr>
          <p:cNvSpPr>
            <a:spLocks noGrp="1"/>
          </p:cNvSpPr>
          <p:nvPr/>
        </p:nvSpPr>
        <p:spPr>
          <a:xfrm>
            <a:off x="523875" y="952500"/>
            <a:ext cx="66675" cy="1381125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CEAF83-AE1F-4252-AC28-CAB3B99DA42D}"/>
              </a:ext>
            </a:extLst>
          </p:cNvPr>
          <p:cNvSpPr>
            <a:spLocks noGrp="1"/>
          </p:cNvSpPr>
          <p:nvPr/>
        </p:nvSpPr>
        <p:spPr>
          <a:xfrm>
            <a:off x="695325" y="1066800"/>
            <a:ext cx="31908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Bo2023 VSD reference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D88AAA-0F4F-46ED-A474-2C7A0A75E055}"/>
              </a:ext>
            </a:extLst>
          </p:cNvPr>
          <p:cNvSpPr>
            <a:spLocks noGrp="1"/>
          </p:cNvSpPr>
          <p:nvPr/>
        </p:nvSpPr>
        <p:spPr>
          <a:xfrm>
            <a:off x="695325" y="1381125"/>
            <a:ext cx="3190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Bo2023 图谱中经 VSD 处理的脑区表达参考。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09729F-916A-413A-A95E-1B1F7E1A729D}"/>
              </a:ext>
            </a:extLst>
          </p:cNvPr>
          <p:cNvSpPr>
            <a:spLocks noGrp="1"/>
          </p:cNvSpPr>
          <p:nvPr/>
        </p:nvSpPr>
        <p:spPr>
          <a:xfrm>
            <a:off x="695325" y="1790700"/>
            <a:ext cx="31908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作用：提供 gene × region 的比较基准。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234348-1EE7-4E13-9FE1-06F13DD75532}"/>
              </a:ext>
            </a:extLst>
          </p:cNvPr>
          <p:cNvSpPr>
            <a:spLocks noGrp="1"/>
          </p:cNvSpPr>
          <p:nvPr/>
        </p:nvSpPr>
        <p:spPr>
          <a:xfrm>
            <a:off x="4333875" y="952500"/>
            <a:ext cx="3476625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93A2DF-C4CD-448B-87E0-E4294E560A6B}"/>
              </a:ext>
            </a:extLst>
          </p:cNvPr>
          <p:cNvSpPr>
            <a:spLocks noGrp="1"/>
          </p:cNvSpPr>
          <p:nvPr/>
        </p:nvSpPr>
        <p:spPr>
          <a:xfrm>
            <a:off x="4333875" y="952500"/>
            <a:ext cx="66675" cy="1381125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05316A-58C1-4891-8549-846DFE87A8B1}"/>
              </a:ext>
            </a:extLst>
          </p:cNvPr>
          <p:cNvSpPr>
            <a:spLocks noGrp="1"/>
          </p:cNvSpPr>
          <p:nvPr/>
        </p:nvSpPr>
        <p:spPr>
          <a:xfrm>
            <a:off x="4505325" y="1066800"/>
            <a:ext cx="31908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SaleemNetworks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312479-6DF0-4BDF-AFBD-1AB2D57F2B59}"/>
              </a:ext>
            </a:extLst>
          </p:cNvPr>
          <p:cNvSpPr>
            <a:spLocks noGrp="1"/>
          </p:cNvSpPr>
          <p:nvPr/>
        </p:nvSpPr>
        <p:spPr>
          <a:xfrm>
            <a:off x="4505325" y="1381125"/>
            <a:ext cx="3190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把细脑区映射到更粗的功能/解剖网络标签。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FCE4B56-8E1A-4510-ABC0-CDE5F1F02140}"/>
              </a:ext>
            </a:extLst>
          </p:cNvPr>
          <p:cNvSpPr>
            <a:spLocks noGrp="1"/>
          </p:cNvSpPr>
          <p:nvPr/>
        </p:nvSpPr>
        <p:spPr>
          <a:xfrm>
            <a:off x="4505325" y="1790700"/>
            <a:ext cx="31908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作用：作为主结论层，降低细脑区噪声。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72CBA0-18D8-4BC9-B3B5-0D66D8A046C5}"/>
              </a:ext>
            </a:extLst>
          </p:cNvPr>
          <p:cNvSpPr>
            <a:spLocks noGrp="1"/>
          </p:cNvSpPr>
          <p:nvPr/>
        </p:nvSpPr>
        <p:spPr>
          <a:xfrm>
            <a:off x="8143875" y="952500"/>
            <a:ext cx="3476625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9DDB83D-7DB3-4730-BADA-2986428C2607}"/>
              </a:ext>
            </a:extLst>
          </p:cNvPr>
          <p:cNvSpPr>
            <a:spLocks noGrp="1"/>
          </p:cNvSpPr>
          <p:nvPr/>
        </p:nvSpPr>
        <p:spPr>
          <a:xfrm>
            <a:off x="8143875" y="952500"/>
            <a:ext cx="66675" cy="1381125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DB72F9D-81C9-45C8-9658-650C2FC0E7A8}"/>
              </a:ext>
            </a:extLst>
          </p:cNvPr>
          <p:cNvSpPr>
            <a:spLocks noGrp="1"/>
          </p:cNvSpPr>
          <p:nvPr/>
        </p:nvSpPr>
        <p:spPr>
          <a:xfrm>
            <a:off x="8315325" y="1066800"/>
            <a:ext cx="31908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Network beam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9AAE795-9DCD-458A-B30F-B83459412E34}"/>
              </a:ext>
            </a:extLst>
          </p:cNvPr>
          <p:cNvSpPr>
            <a:spLocks noGrp="1"/>
          </p:cNvSpPr>
          <p:nvPr/>
        </p:nvSpPr>
        <p:spPr>
          <a:xfrm>
            <a:off x="8315325" y="1381125"/>
            <a:ext cx="3190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保留前 N 个 Network 后，只在这些网络内找 Region。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F923BE-A092-4CC6-8E30-56F25782FBBA}"/>
              </a:ext>
            </a:extLst>
          </p:cNvPr>
          <p:cNvSpPr>
            <a:spLocks noGrp="1"/>
          </p:cNvSpPr>
          <p:nvPr/>
        </p:nvSpPr>
        <p:spPr>
          <a:xfrm>
            <a:off x="8315325" y="1790700"/>
            <a:ext cx="31908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作用：缩小搜索空间，减少跨网络误判。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8AC1C26-6E63-4FD4-9EE8-DAD080E14C1C}"/>
              </a:ext>
            </a:extLst>
          </p:cNvPr>
          <p:cNvSpPr>
            <a:spLocks noGrp="1"/>
          </p:cNvSpPr>
          <p:nvPr/>
        </p:nvSpPr>
        <p:spPr>
          <a:xfrm>
            <a:off x="523875" y="2952750"/>
            <a:ext cx="3476625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3FCB5CA-B2DA-450A-AB86-AB97666592F2}"/>
              </a:ext>
            </a:extLst>
          </p:cNvPr>
          <p:cNvSpPr>
            <a:spLocks noGrp="1"/>
          </p:cNvSpPr>
          <p:nvPr/>
        </p:nvSpPr>
        <p:spPr>
          <a:xfrm>
            <a:off x="523875" y="2952750"/>
            <a:ext cx="66675" cy="138112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12A4ACB-89EB-4CE1-B87E-0DFF4D3FC52B}"/>
              </a:ext>
            </a:extLst>
          </p:cNvPr>
          <p:cNvSpPr>
            <a:spLocks noGrp="1"/>
          </p:cNvSpPr>
          <p:nvPr/>
        </p:nvSpPr>
        <p:spPr>
          <a:xfrm>
            <a:off x="695325" y="3067050"/>
            <a:ext cx="31908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Exact Region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6B85F3C-218C-460E-B390-B5E0A9CFFCB3}"/>
              </a:ext>
            </a:extLst>
          </p:cNvPr>
          <p:cNvSpPr>
            <a:spLocks noGrp="1"/>
          </p:cNvSpPr>
          <p:nvPr/>
        </p:nvSpPr>
        <p:spPr>
          <a:xfrm>
            <a:off x="695325" y="3381375"/>
            <a:ext cx="3190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最细粒度的脑区标签，例如单个皮层或核团 Region。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764562-7442-4260-9579-D5D173EA4C24}"/>
              </a:ext>
            </a:extLst>
          </p:cNvPr>
          <p:cNvSpPr>
            <a:spLocks noGrp="1"/>
          </p:cNvSpPr>
          <p:nvPr/>
        </p:nvSpPr>
        <p:spPr>
          <a:xfrm>
            <a:off x="695325" y="3790950"/>
            <a:ext cx="31908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作用：作为二级候选输出，是最难的终点。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7347098-6419-46B5-B90B-8981F4CC387D}"/>
              </a:ext>
            </a:extLst>
          </p:cNvPr>
          <p:cNvSpPr>
            <a:spLocks noGrp="1"/>
          </p:cNvSpPr>
          <p:nvPr/>
        </p:nvSpPr>
        <p:spPr>
          <a:xfrm>
            <a:off x="4333875" y="2952750"/>
            <a:ext cx="3476625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0B5648B-B51D-40B6-968D-3A437BC97C14}"/>
              </a:ext>
            </a:extLst>
          </p:cNvPr>
          <p:cNvSpPr>
            <a:spLocks noGrp="1"/>
          </p:cNvSpPr>
          <p:nvPr/>
        </p:nvSpPr>
        <p:spPr>
          <a:xfrm>
            <a:off x="4333875" y="2952750"/>
            <a:ext cx="66675" cy="1381125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4F86E50-97F0-4F56-8C0B-120605B82E5E}"/>
              </a:ext>
            </a:extLst>
          </p:cNvPr>
          <p:cNvSpPr>
            <a:spLocks noGrp="1"/>
          </p:cNvSpPr>
          <p:nvPr/>
        </p:nvSpPr>
        <p:spPr>
          <a:xfrm>
            <a:off x="4505325" y="3067050"/>
            <a:ext cx="31908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Top50/Top100 z-fusion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052E7CD-3D98-491E-8650-9EAEF419CD4F}"/>
              </a:ext>
            </a:extLst>
          </p:cNvPr>
          <p:cNvSpPr>
            <a:spLocks noGrp="1"/>
          </p:cNvSpPr>
          <p:nvPr/>
        </p:nvSpPr>
        <p:spPr>
          <a:xfrm>
            <a:off x="4505325" y="3381375"/>
            <a:ext cx="3190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分别用 50 和 100 个判别基因算分，再做 z-score 融合。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2FAEDD0-3F3B-4CE0-BD6F-F550B52D1820}"/>
              </a:ext>
            </a:extLst>
          </p:cNvPr>
          <p:cNvSpPr>
            <a:spLocks noGrp="1"/>
          </p:cNvSpPr>
          <p:nvPr/>
        </p:nvSpPr>
        <p:spPr>
          <a:xfrm>
            <a:off x="4505325" y="3790950"/>
            <a:ext cx="31908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作用：兼顾强 marker 与中等稳定信号。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FE915B4-5041-449D-8240-39BBDE0E1C9C}"/>
              </a:ext>
            </a:extLst>
          </p:cNvPr>
          <p:cNvSpPr>
            <a:spLocks noGrp="1"/>
          </p:cNvSpPr>
          <p:nvPr/>
        </p:nvSpPr>
        <p:spPr>
          <a:xfrm>
            <a:off x="8143875" y="2952750"/>
            <a:ext cx="3476625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09A1E9D-32FC-4899-BB13-60F8804AD9B0}"/>
              </a:ext>
            </a:extLst>
          </p:cNvPr>
          <p:cNvSpPr>
            <a:spLocks noGrp="1"/>
          </p:cNvSpPr>
          <p:nvPr/>
        </p:nvSpPr>
        <p:spPr>
          <a:xfrm>
            <a:off x="8143875" y="2952750"/>
            <a:ext cx="66675" cy="1381125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998B6C6-16CA-43D0-B6D2-B8130B4EABD7}"/>
              </a:ext>
            </a:extLst>
          </p:cNvPr>
          <p:cNvSpPr>
            <a:spLocks noGrp="1"/>
          </p:cNvSpPr>
          <p:nvPr/>
        </p:nvSpPr>
        <p:spPr>
          <a:xfrm>
            <a:off x="8315325" y="3067050"/>
            <a:ext cx="31908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resolution group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3895DC3-311E-491E-8B1A-B90C1D8DC8AF}"/>
              </a:ext>
            </a:extLst>
          </p:cNvPr>
          <p:cNvSpPr>
            <a:spLocks noGrp="1"/>
          </p:cNvSpPr>
          <p:nvPr/>
        </p:nvSpPr>
        <p:spPr>
          <a:xfrm>
            <a:off x="8315325" y="3381375"/>
            <a:ext cx="3190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同 Network 内最多 6 个难分 Region 的合并候选组。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E546F0F-C698-41FD-BB39-0DAF6CC555AF}"/>
              </a:ext>
            </a:extLst>
          </p:cNvPr>
          <p:cNvSpPr>
            <a:spLocks noGrp="1"/>
          </p:cNvSpPr>
          <p:nvPr/>
        </p:nvSpPr>
        <p:spPr>
          <a:xfrm>
            <a:off x="8315325" y="3790950"/>
            <a:ext cx="31908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作用：避免把不可分信号误说成单一区域。</a:t>
            </a:r>
          </a:p>
        </p:txBody>
      </p:sp>
    </p:spTree>
    <p:extLst>
      <p:ext uri="{BB962C8B-B14F-4D97-AF65-F5344CB8AC3E}">
        <p14:creationId xmlns:p14="http://schemas.microsoft.com/office/powerpoint/2010/main" val="1525073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FEA0EDF3-A4E9-42F4-8B45-20598386EC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28650"/>
          </a:xfrm>
          <a:prstGeom prst="rect">
            <a:avLst/>
          </a:prstGeom>
          <a:solidFill>
            <a:srgbClr val="0F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1A39BB-75F2-48FC-9F6F-FE3B01DF30F2}"/>
              </a:ext>
            </a:extLst>
          </p:cNvPr>
          <p:cNvSpPr>
            <a:spLocks noGrp="1"/>
          </p:cNvSpPr>
          <p:nvPr/>
        </p:nvSpPr>
        <p:spPr>
          <a:xfrm>
            <a:off x="419100" y="142875"/>
            <a:ext cx="885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专有名词解释：验证与结果指标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290635-F730-4834-B56E-7CCB0C4EB8A0}"/>
              </a:ext>
            </a:extLst>
          </p:cNvPr>
          <p:cNvSpPr>
            <a:spLocks noGrp="1"/>
          </p:cNvSpPr>
          <p:nvPr/>
        </p:nvSpPr>
        <p:spPr>
          <a:xfrm>
            <a:off x="9429750" y="200025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FE7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E7FF"/>
                </a:solidFill>
                <a:latin typeface="Aptos"/>
                <a:ea typeface="Aptos"/>
                <a:cs typeface="Aptos"/>
              </a:rPr>
              <a:t>Bo2023 formal source tracing route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C38B82-A7F5-460A-A771-00367DF62D57}"/>
              </a:ext>
            </a:extLst>
          </p:cNvPr>
          <p:cNvSpPr>
            <a:spLocks noGrp="1"/>
          </p:cNvSpPr>
          <p:nvPr/>
        </p:nvSpPr>
        <p:spPr>
          <a:xfrm>
            <a:off x="419100" y="657225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Strict LOSO · Network first · Region second · Resolution-aware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0EA2EC-724D-4797-B9D2-FEA244ED383B}"/>
              </a:ext>
            </a:extLst>
          </p:cNvPr>
          <p:cNvSpPr>
            <a:spLocks noGrp="1"/>
          </p:cNvSpPr>
          <p:nvPr/>
        </p:nvSpPr>
        <p:spPr>
          <a:xfrm>
            <a:off x="666750" y="1000125"/>
            <a:ext cx="33337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D97308-4BE6-4716-ABFE-02C15FD0DE9C}"/>
              </a:ext>
            </a:extLst>
          </p:cNvPr>
          <p:cNvSpPr>
            <a:spLocks noGrp="1"/>
          </p:cNvSpPr>
          <p:nvPr/>
        </p:nvSpPr>
        <p:spPr>
          <a:xfrm>
            <a:off x="666750" y="1000125"/>
            <a:ext cx="66675" cy="1381125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E9C585-C5EA-4D8B-90EC-59E06283CCC1}"/>
              </a:ext>
            </a:extLst>
          </p:cNvPr>
          <p:cNvSpPr>
            <a:spLocks noGrp="1"/>
          </p:cNvSpPr>
          <p:nvPr/>
        </p:nvSpPr>
        <p:spPr>
          <a:xfrm>
            <a:off x="838200" y="11144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LOSO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E4F2FD-93C1-4424-A9B5-6C83BDF1A3DF}"/>
              </a:ext>
            </a:extLst>
          </p:cNvPr>
          <p:cNvSpPr>
            <a:spLocks noGrp="1"/>
          </p:cNvSpPr>
          <p:nvPr/>
        </p:nvSpPr>
        <p:spPr>
          <a:xfrm>
            <a:off x="838200" y="1428750"/>
            <a:ext cx="304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Leave-One-Sample-Out，一次留出一个样本做未知样本。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329F1B-9FB1-499A-86EA-F78C049BFA06}"/>
              </a:ext>
            </a:extLst>
          </p:cNvPr>
          <p:cNvSpPr>
            <a:spLocks noGrp="1"/>
          </p:cNvSpPr>
          <p:nvPr/>
        </p:nvSpPr>
        <p:spPr>
          <a:xfrm>
            <a:off x="838200" y="1838325"/>
            <a:ext cx="304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作用：验证模型是否能回溯未见样本。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63B74E-64DA-4888-8E0F-599B6F32261D}"/>
              </a:ext>
            </a:extLst>
          </p:cNvPr>
          <p:cNvSpPr>
            <a:spLocks noGrp="1"/>
          </p:cNvSpPr>
          <p:nvPr/>
        </p:nvSpPr>
        <p:spPr>
          <a:xfrm>
            <a:off x="4429125" y="1000125"/>
            <a:ext cx="33337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1069D2-B7C0-4BC0-BDDA-DD52DEF1D4D4}"/>
              </a:ext>
            </a:extLst>
          </p:cNvPr>
          <p:cNvSpPr>
            <a:spLocks noGrp="1"/>
          </p:cNvSpPr>
          <p:nvPr/>
        </p:nvSpPr>
        <p:spPr>
          <a:xfrm>
            <a:off x="4429125" y="1000125"/>
            <a:ext cx="66675" cy="1381125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1BC8A65-4092-483D-89AA-CC5431B537A7}"/>
              </a:ext>
            </a:extLst>
          </p:cNvPr>
          <p:cNvSpPr>
            <a:spLocks noGrp="1"/>
          </p:cNvSpPr>
          <p:nvPr/>
        </p:nvSpPr>
        <p:spPr>
          <a:xfrm>
            <a:off x="4600575" y="11144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Top1 / Top3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A6D000-336B-4D92-8CFA-64FBF889673E}"/>
              </a:ext>
            </a:extLst>
          </p:cNvPr>
          <p:cNvSpPr>
            <a:spLocks noGrp="1"/>
          </p:cNvSpPr>
          <p:nvPr/>
        </p:nvSpPr>
        <p:spPr>
          <a:xfrm>
            <a:off x="4600575" y="1428750"/>
            <a:ext cx="304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真实 Region 是否排在第 1 位 / 前 3 位。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17CB68-8414-4BC5-BF28-8AEA3A60A812}"/>
              </a:ext>
            </a:extLst>
          </p:cNvPr>
          <p:cNvSpPr>
            <a:spLocks noGrp="1"/>
          </p:cNvSpPr>
          <p:nvPr/>
        </p:nvSpPr>
        <p:spPr>
          <a:xfrm>
            <a:off x="4600575" y="1838325"/>
            <a:ext cx="304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作用：衡量精确排序能力。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574DEC-F013-47EF-9922-E362E2DC0386}"/>
              </a:ext>
            </a:extLst>
          </p:cNvPr>
          <p:cNvSpPr>
            <a:spLocks noGrp="1"/>
          </p:cNvSpPr>
          <p:nvPr/>
        </p:nvSpPr>
        <p:spPr>
          <a:xfrm>
            <a:off x="8191500" y="1000125"/>
            <a:ext cx="33337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5E3B4CB-D1DC-464B-AC07-B944907CDA7D}"/>
              </a:ext>
            </a:extLst>
          </p:cNvPr>
          <p:cNvSpPr>
            <a:spLocks noGrp="1"/>
          </p:cNvSpPr>
          <p:nvPr/>
        </p:nvSpPr>
        <p:spPr>
          <a:xfrm>
            <a:off x="8191500" y="1000125"/>
            <a:ext cx="66675" cy="1381125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CBA07CC-2D80-43F7-83C0-C6B2E72389BB}"/>
              </a:ext>
            </a:extLst>
          </p:cNvPr>
          <p:cNvSpPr>
            <a:spLocks noGrp="1"/>
          </p:cNvSpPr>
          <p:nvPr/>
        </p:nvSpPr>
        <p:spPr>
          <a:xfrm>
            <a:off x="8362950" y="11144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Correlation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6A69F0F-EF14-4EC6-BD35-07B3FC226DFD}"/>
              </a:ext>
            </a:extLst>
          </p:cNvPr>
          <p:cNvSpPr>
            <a:spLocks noGrp="1"/>
          </p:cNvSpPr>
          <p:nvPr/>
        </p:nvSpPr>
        <p:spPr>
          <a:xfrm>
            <a:off x="8362950" y="1428750"/>
            <a:ext cx="304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未知样本表达谱与 reference 的相关性相似度。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21262E-8C6B-446A-9A2F-14959106C4C5}"/>
              </a:ext>
            </a:extLst>
          </p:cNvPr>
          <p:cNvSpPr>
            <a:spLocks noGrp="1"/>
          </p:cNvSpPr>
          <p:nvPr/>
        </p:nvSpPr>
        <p:spPr>
          <a:xfrm>
            <a:off x="8362950" y="1838325"/>
            <a:ext cx="304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作用：是当前主路径的核心打分。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46D508A-197E-481C-BC9D-7636BF950CE8}"/>
              </a:ext>
            </a:extLst>
          </p:cNvPr>
          <p:cNvSpPr>
            <a:spLocks noGrp="1"/>
          </p:cNvSpPr>
          <p:nvPr/>
        </p:nvSpPr>
        <p:spPr>
          <a:xfrm>
            <a:off x="666750" y="3095625"/>
            <a:ext cx="33337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CB6F18C-3DD1-42E7-8290-837A72B9F8F3}"/>
              </a:ext>
            </a:extLst>
          </p:cNvPr>
          <p:cNvSpPr>
            <a:spLocks noGrp="1"/>
          </p:cNvSpPr>
          <p:nvPr/>
        </p:nvSpPr>
        <p:spPr>
          <a:xfrm>
            <a:off x="666750" y="3095625"/>
            <a:ext cx="66675" cy="138112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7D13BE9-8D26-4148-94F2-63D572481CAB}"/>
              </a:ext>
            </a:extLst>
          </p:cNvPr>
          <p:cNvSpPr>
            <a:spLocks noGrp="1"/>
          </p:cNvSpPr>
          <p:nvPr/>
        </p:nvSpPr>
        <p:spPr>
          <a:xfrm>
            <a:off x="838200" y="32099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paired comparison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6ECEC2D-2C52-4952-AB28-6673CCAFDACD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04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同一批样本上比较两条路线的得失。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413332D-D832-47A8-96D7-70564CD1687F}"/>
              </a:ext>
            </a:extLst>
          </p:cNvPr>
          <p:cNvSpPr>
            <a:spLocks noGrp="1"/>
          </p:cNvSpPr>
          <p:nvPr/>
        </p:nvSpPr>
        <p:spPr>
          <a:xfrm>
            <a:off x="838200" y="3933825"/>
            <a:ext cx="304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作用：判断优化是否真实改善，而非样本差异造成。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CBEC99D-FCAC-496A-8B17-5D62FB48B28E}"/>
              </a:ext>
            </a:extLst>
          </p:cNvPr>
          <p:cNvSpPr>
            <a:spLocks noGrp="1"/>
          </p:cNvSpPr>
          <p:nvPr/>
        </p:nvSpPr>
        <p:spPr>
          <a:xfrm>
            <a:off x="4429125" y="3095625"/>
            <a:ext cx="33337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249166-A487-422B-B7AB-D68EFE8680D1}"/>
              </a:ext>
            </a:extLst>
          </p:cNvPr>
          <p:cNvSpPr>
            <a:spLocks noGrp="1"/>
          </p:cNvSpPr>
          <p:nvPr/>
        </p:nvSpPr>
        <p:spPr>
          <a:xfrm>
            <a:off x="4429125" y="3095625"/>
            <a:ext cx="66675" cy="1381125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4D08838-1F6C-4AA5-9D5C-5A2BBAE56503}"/>
              </a:ext>
            </a:extLst>
          </p:cNvPr>
          <p:cNvSpPr>
            <a:spLocks noGrp="1"/>
          </p:cNvSpPr>
          <p:nvPr/>
        </p:nvSpPr>
        <p:spPr>
          <a:xfrm>
            <a:off x="4600575" y="32099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low_resolution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C43579F-618C-4F69-899C-784F78AE41F7}"/>
              </a:ext>
            </a:extLst>
          </p:cNvPr>
          <p:cNvSpPr>
            <a:spLocks noGrp="1"/>
          </p:cNvSpPr>
          <p:nvPr/>
        </p:nvSpPr>
        <p:spPr>
          <a:xfrm>
            <a:off x="4600575" y="3524250"/>
            <a:ext cx="304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正式报告中的低分辨率标记。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DD634A4-0D37-4848-BDFC-FE86DE741320}"/>
              </a:ext>
            </a:extLst>
          </p:cNvPr>
          <p:cNvSpPr>
            <a:spLocks noGrp="1"/>
          </p:cNvSpPr>
          <p:nvPr/>
        </p:nvSpPr>
        <p:spPr>
          <a:xfrm>
            <a:off x="4600575" y="3933825"/>
            <a:ext cx="304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作用：提示 exact Region 可信边界，需要按候选组解释。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BB86F78-CF7C-4113-84F6-A0ECF8F1D492}"/>
              </a:ext>
            </a:extLst>
          </p:cNvPr>
          <p:cNvSpPr>
            <a:spLocks noGrp="1"/>
          </p:cNvSpPr>
          <p:nvPr/>
        </p:nvSpPr>
        <p:spPr>
          <a:xfrm>
            <a:off x="8191500" y="3095625"/>
            <a:ext cx="33337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820CCE7-02EA-4F6D-B5A0-471CFFE85510}"/>
              </a:ext>
            </a:extLst>
          </p:cNvPr>
          <p:cNvSpPr>
            <a:spLocks noGrp="1"/>
          </p:cNvSpPr>
          <p:nvPr/>
        </p:nvSpPr>
        <p:spPr>
          <a:xfrm>
            <a:off x="8191500" y="3095625"/>
            <a:ext cx="66675" cy="1381125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89B629-E21C-492A-8D54-0010CE810695}"/>
              </a:ext>
            </a:extLst>
          </p:cNvPr>
          <p:cNvSpPr>
            <a:spLocks noGrp="1"/>
          </p:cNvSpPr>
          <p:nvPr/>
        </p:nvSpPr>
        <p:spPr>
          <a:xfrm>
            <a:off x="8362950" y="32099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Oracle true Network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3555EA7-35AE-4D96-B72F-F6D102E7D6D1}"/>
              </a:ext>
            </a:extLst>
          </p:cNvPr>
          <p:cNvSpPr>
            <a:spLocks noGrp="1"/>
          </p:cNvSpPr>
          <p:nvPr/>
        </p:nvSpPr>
        <p:spPr>
          <a:xfrm>
            <a:off x="8362950" y="3524250"/>
            <a:ext cx="304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假设 Network 已知正确后的上限测试。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F8F5571-EA84-4149-A4CC-8AC9244CBD0C}"/>
              </a:ext>
            </a:extLst>
          </p:cNvPr>
          <p:cNvSpPr>
            <a:spLocks noGrp="1"/>
          </p:cNvSpPr>
          <p:nvPr/>
        </p:nvSpPr>
        <p:spPr>
          <a:xfrm>
            <a:off x="8362950" y="3933825"/>
            <a:ext cx="304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作用：估计 Region 层本身还有多少可优化空间。</a:t>
            </a:r>
          </a:p>
        </p:txBody>
      </p:sp>
    </p:spTree>
    <p:extLst>
      <p:ext uri="{BB962C8B-B14F-4D97-AF65-F5344CB8AC3E}">
        <p14:creationId xmlns:p14="http://schemas.microsoft.com/office/powerpoint/2010/main" val="1981015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0E9D7AE2-B86F-4AEC-AC46-4753ED5EB7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28650"/>
          </a:xfrm>
          <a:prstGeom prst="rect">
            <a:avLst/>
          </a:prstGeom>
          <a:solidFill>
            <a:srgbClr val="0F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DF0A331-CD46-4F3B-B7A5-BF35502AEB59}"/>
              </a:ext>
            </a:extLst>
          </p:cNvPr>
          <p:cNvSpPr>
            <a:spLocks noGrp="1"/>
          </p:cNvSpPr>
          <p:nvPr/>
        </p:nvSpPr>
        <p:spPr>
          <a:xfrm>
            <a:off x="419100" y="142875"/>
            <a:ext cx="885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最终结论：当前最优路线已适合正式展示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267594-9306-474F-930A-6A17362560CF}"/>
              </a:ext>
            </a:extLst>
          </p:cNvPr>
          <p:cNvSpPr>
            <a:spLocks noGrp="1"/>
          </p:cNvSpPr>
          <p:nvPr/>
        </p:nvSpPr>
        <p:spPr>
          <a:xfrm>
            <a:off x="9429750" y="200025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BFE7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E7FF"/>
                </a:solidFill>
                <a:latin typeface="Aptos"/>
                <a:ea typeface="Aptos"/>
                <a:cs typeface="Aptos"/>
              </a:rPr>
              <a:t>Bo2023 formal source tracing route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6ADE4B-6D9F-4BED-B679-522392E32C53}"/>
              </a:ext>
            </a:extLst>
          </p:cNvPr>
          <p:cNvSpPr>
            <a:spLocks noGrp="1"/>
          </p:cNvSpPr>
          <p:nvPr/>
        </p:nvSpPr>
        <p:spPr>
          <a:xfrm>
            <a:off x="419100" y="657225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Strict LOSO · Network first · Region second · Resolution-aware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D42C84-5CA7-4269-87CB-0726B950C890}"/>
              </a:ext>
            </a:extLst>
          </p:cNvPr>
          <p:cNvSpPr>
            <a:spLocks noGrp="1"/>
          </p:cNvSpPr>
          <p:nvPr/>
        </p:nvSpPr>
        <p:spPr>
          <a:xfrm>
            <a:off x="666750" y="1047750"/>
            <a:ext cx="4953000" cy="3905250"/>
          </a:xfrm>
          <a:prstGeom prst="rect">
            <a:avLst/>
          </a:prstGeom>
          <a:solidFill>
            <a:srgbClr val="EAF7EE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F4E289-B7F0-4683-B772-6693611018BF}"/>
              </a:ext>
            </a:extLst>
          </p:cNvPr>
          <p:cNvSpPr>
            <a:spLocks noGrp="1"/>
          </p:cNvSpPr>
          <p:nvPr/>
        </p:nvSpPr>
        <p:spPr>
          <a:xfrm>
            <a:off x="1000125" y="13335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已采纳并接入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829B4E-0834-4751-9753-BB1324802F32}"/>
              </a:ext>
            </a:extLst>
          </p:cNvPr>
          <p:cNvSpPr>
            <a:spLocks noGrp="1"/>
          </p:cNvSpPr>
          <p:nvPr/>
        </p:nvSpPr>
        <p:spPr>
          <a:xfrm>
            <a:off x="1047750" y="2028825"/>
            <a:ext cx="95250" cy="95250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8364A7-6FE4-464B-8A36-89E85EE45EB4}"/>
              </a:ext>
            </a:extLst>
          </p:cNvPr>
          <p:cNvSpPr>
            <a:spLocks noGrp="1"/>
          </p:cNvSpPr>
          <p:nvPr/>
        </p:nvSpPr>
        <p:spPr>
          <a:xfrm>
            <a:off x="1257300" y="1952625"/>
            <a:ext cx="3810000" cy="44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Network 主结论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E4726F-9B80-44D3-A681-E19F00EA7A7D}"/>
              </a:ext>
            </a:extLst>
          </p:cNvPr>
          <p:cNvSpPr>
            <a:spLocks noGrp="1"/>
          </p:cNvSpPr>
          <p:nvPr/>
        </p:nvSpPr>
        <p:spPr>
          <a:xfrm>
            <a:off x="1047750" y="2505075"/>
            <a:ext cx="95250" cy="95250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609A92-64CF-4251-8D18-374AD87A4DE5}"/>
              </a:ext>
            </a:extLst>
          </p:cNvPr>
          <p:cNvSpPr>
            <a:spLocks noGrp="1"/>
          </p:cNvSpPr>
          <p:nvPr/>
        </p:nvSpPr>
        <p:spPr>
          <a:xfrm>
            <a:off x="1257300" y="2428875"/>
            <a:ext cx="3810000" cy="44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Top3 Network beam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571345-A9BB-45BC-946D-5A4AC3D27072}"/>
              </a:ext>
            </a:extLst>
          </p:cNvPr>
          <p:cNvSpPr>
            <a:spLocks noGrp="1"/>
          </p:cNvSpPr>
          <p:nvPr/>
        </p:nvSpPr>
        <p:spPr>
          <a:xfrm>
            <a:off x="1047750" y="2981325"/>
            <a:ext cx="95250" cy="95250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52D73F-6330-469E-8938-080A8C7EEAC3}"/>
              </a:ext>
            </a:extLst>
          </p:cNvPr>
          <p:cNvSpPr>
            <a:spLocks noGrp="1"/>
          </p:cNvSpPr>
          <p:nvPr/>
        </p:nvSpPr>
        <p:spPr>
          <a:xfrm>
            <a:off x="1257300" y="2905125"/>
            <a:ext cx="3810000" cy="44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Region Top50/Top100 z-fusion w=0.25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599573-70DE-4CA8-84F9-9A629B94BC3A}"/>
              </a:ext>
            </a:extLst>
          </p:cNvPr>
          <p:cNvSpPr>
            <a:spLocks noGrp="1"/>
          </p:cNvSpPr>
          <p:nvPr/>
        </p:nvSpPr>
        <p:spPr>
          <a:xfrm>
            <a:off x="1047750" y="3457575"/>
            <a:ext cx="95250" cy="95250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FAB997-56FE-4F6A-AEB7-F49622FF8068}"/>
              </a:ext>
            </a:extLst>
          </p:cNvPr>
          <p:cNvSpPr>
            <a:spLocks noGrp="1"/>
          </p:cNvSpPr>
          <p:nvPr/>
        </p:nvSpPr>
        <p:spPr>
          <a:xfrm>
            <a:off x="1257300" y="3381375"/>
            <a:ext cx="3810000" cy="44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same-Network max6 resolution group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D37485-CD00-4E6D-B797-1483F47FDB90}"/>
              </a:ext>
            </a:extLst>
          </p:cNvPr>
          <p:cNvSpPr>
            <a:spLocks noGrp="1"/>
          </p:cNvSpPr>
          <p:nvPr/>
        </p:nvSpPr>
        <p:spPr>
          <a:xfrm>
            <a:off x="1047750" y="3933825"/>
            <a:ext cx="95250" cy="95250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B179327-71FE-48BB-9712-E623DAF9B024}"/>
              </a:ext>
            </a:extLst>
          </p:cNvPr>
          <p:cNvSpPr>
            <a:spLocks noGrp="1"/>
          </p:cNvSpPr>
          <p:nvPr/>
        </p:nvSpPr>
        <p:spPr>
          <a:xfrm>
            <a:off x="1257300" y="3857625"/>
            <a:ext cx="3810000" cy="44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low_resolution 正式警告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A2C993A-C577-4CA7-AE50-4063BECABCC2}"/>
              </a:ext>
            </a:extLst>
          </p:cNvPr>
          <p:cNvSpPr>
            <a:spLocks noGrp="1"/>
          </p:cNvSpPr>
          <p:nvPr/>
        </p:nvSpPr>
        <p:spPr>
          <a:xfrm>
            <a:off x="6572250" y="1047750"/>
            <a:ext cx="4953000" cy="3905250"/>
          </a:xfrm>
          <a:prstGeom prst="rect">
            <a:avLst/>
          </a:prstGeom>
          <a:solidFill>
            <a:srgbClr val="FFF1F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E1ECF47-FD91-4366-9163-71ABBC8693B2}"/>
              </a:ext>
            </a:extLst>
          </p:cNvPr>
          <p:cNvSpPr>
            <a:spLocks noGrp="1"/>
          </p:cNvSpPr>
          <p:nvPr/>
        </p:nvSpPr>
        <p:spPr>
          <a:xfrm>
            <a:off x="6905625" y="13335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未采纳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194B8F0-B1FE-4344-A0B0-2A62710B3A42}"/>
              </a:ext>
            </a:extLst>
          </p:cNvPr>
          <p:cNvSpPr>
            <a:spLocks noGrp="1"/>
          </p:cNvSpPr>
          <p:nvPr/>
        </p:nvSpPr>
        <p:spPr>
          <a:xfrm>
            <a:off x="6953250" y="2028825"/>
            <a:ext cx="95250" cy="95250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7AD2587-B160-413D-953E-9FE3E7FC550D}"/>
              </a:ext>
            </a:extLst>
          </p:cNvPr>
          <p:cNvSpPr>
            <a:spLocks noGrp="1"/>
          </p:cNvSpPr>
          <p:nvPr/>
        </p:nvSpPr>
        <p:spPr>
          <a:xfrm>
            <a:off x="7162800" y="1952625"/>
            <a:ext cx="3810000" cy="44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cross-Network 合并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585BFF-F146-413B-A62A-CF96A9E390BF}"/>
              </a:ext>
            </a:extLst>
          </p:cNvPr>
          <p:cNvSpPr>
            <a:spLocks noGrp="1"/>
          </p:cNvSpPr>
          <p:nvPr/>
        </p:nvSpPr>
        <p:spPr>
          <a:xfrm>
            <a:off x="6953250" y="2505075"/>
            <a:ext cx="95250" cy="95250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6BE9763-A966-4384-8066-1E255CECF673}"/>
              </a:ext>
            </a:extLst>
          </p:cNvPr>
          <p:cNvSpPr>
            <a:spLocks noGrp="1"/>
          </p:cNvSpPr>
          <p:nvPr/>
        </p:nvSpPr>
        <p:spPr>
          <a:xfrm>
            <a:off x="7162800" y="2428875"/>
            <a:ext cx="3810000" cy="44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Top5 raw beam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65F0E48-96F6-4FA0-B321-445175E81629}"/>
              </a:ext>
            </a:extLst>
          </p:cNvPr>
          <p:cNvSpPr>
            <a:spLocks noGrp="1"/>
          </p:cNvSpPr>
          <p:nvPr/>
        </p:nvSpPr>
        <p:spPr>
          <a:xfrm>
            <a:off x="6953250" y="2981325"/>
            <a:ext cx="95250" cy="95250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D4F0A2-43BB-4503-B8A0-76361BF7DA0E}"/>
              </a:ext>
            </a:extLst>
          </p:cNvPr>
          <p:cNvSpPr>
            <a:spLocks noGrp="1"/>
          </p:cNvSpPr>
          <p:nvPr/>
        </p:nvSpPr>
        <p:spPr>
          <a:xfrm>
            <a:off x="7162800" y="2905125"/>
            <a:ext cx="3810000" cy="44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Top5 conservative rerank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A6D2212-E4CC-4F56-A18A-E912D80CB19E}"/>
              </a:ext>
            </a:extLst>
          </p:cNvPr>
          <p:cNvSpPr>
            <a:spLocks noGrp="1"/>
          </p:cNvSpPr>
          <p:nvPr/>
        </p:nvSpPr>
        <p:spPr>
          <a:xfrm>
            <a:off x="6953250" y="3457575"/>
            <a:ext cx="95250" cy="95250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BA0FF05-E781-43D7-ABFA-4F98304648B1}"/>
              </a:ext>
            </a:extLst>
          </p:cNvPr>
          <p:cNvSpPr>
            <a:spLocks noGrp="1"/>
          </p:cNvSpPr>
          <p:nvPr/>
        </p:nvSpPr>
        <p:spPr>
          <a:xfrm>
            <a:off x="7162800" y="3381375"/>
            <a:ext cx="3810000" cy="44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宽泛重排权重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AD0E9BD-1C3F-4AD9-8D97-34B33832AB36}"/>
              </a:ext>
            </a:extLst>
          </p:cNvPr>
          <p:cNvSpPr>
            <a:spLocks noGrp="1"/>
          </p:cNvSpPr>
          <p:nvPr/>
        </p:nvSpPr>
        <p:spPr>
          <a:xfrm>
            <a:off x="6953250" y="3933825"/>
            <a:ext cx="95250" cy="95250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39466F-8BB5-4E9C-B783-4C338BD3B8CA}"/>
              </a:ext>
            </a:extLst>
          </p:cNvPr>
          <p:cNvSpPr>
            <a:spLocks noGrp="1"/>
          </p:cNvSpPr>
          <p:nvPr/>
        </p:nvSpPr>
        <p:spPr>
          <a:xfrm>
            <a:off x="7162800" y="3857625"/>
            <a:ext cx="3810000" cy="44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强制 exact Top1 解释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7344268-3274-4F30-8FEE-DC246EFC4F63}"/>
              </a:ext>
            </a:extLst>
          </p:cNvPr>
          <p:cNvSpPr>
            <a:spLocks noGrp="1"/>
          </p:cNvSpPr>
          <p:nvPr/>
        </p:nvSpPr>
        <p:spPr>
          <a:xfrm>
            <a:off x="1257300" y="5476875"/>
            <a:ext cx="9667875" cy="323850"/>
          </a:xfrm>
          <a:prstGeom prst="rect">
            <a:avLst/>
          </a:prstGeom>
          <a:solidFill>
            <a:srgbClr val="0F2742"/>
          </a:solidFill>
          <a:ln w="0">
            <a:solidFill>
              <a:srgbClr val="0F2742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4BB161C-8BBB-4504-A91C-2D109BE656E5}"/>
              </a:ext>
            </a:extLst>
          </p:cNvPr>
          <p:cNvSpPr>
            <a:spLocks noGrp="1"/>
          </p:cNvSpPr>
          <p:nvPr/>
        </p:nvSpPr>
        <p:spPr>
          <a:xfrm>
            <a:off x="1257300" y="5524500"/>
            <a:ext cx="96678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正式解读模板：先报告 Network；再给 Exact Region Top3；若 low_resolution，报告候选组并提示人工复核。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31088531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3546</TotalTime>
  <Words>801</Words>
  <Application>Microsoft Office PowerPoint</Application>
  <DocSecurity>0</DocSecurity>
  <PresentationFormat>宽屏</PresentationFormat>
  <Paragraphs>205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Microsoft YaHei</vt:lpstr>
      <vt:lpstr>Aptos</vt:lpstr>
      <vt:lpstr>Aptos Display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wang zhen</cp:lastModifiedBy>
  <cp:revision>2</cp:revision>
  <dcterms:created xsi:type="dcterms:W3CDTF">2026-05-29T17:56:59Z</dcterms:created>
  <dcterms:modified xsi:type="dcterms:W3CDTF">2026-06-01T05:09:31Z</dcterms:modified>
</cp:coreProperties>
</file>